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dia_1792480325884_995491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1371600" cy="1371600"/>
          </a:xfrm>
          <a:prstGeom prst="rect">
            <a:avLst/>
          </a:prstGeom>
        </p:spPr>
      </p:pic>
      <p:pic>
        <p:nvPicPr>
          <p:cNvPr id="5" name="Picture 4" descr="kaisar-gym-logo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616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31546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067"/>
                </a:solidFill>
              </a:defRPr>
            </a:pPr>
            <a: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916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C067"/>
                </a:solidFill>
                <a:latin typeface="Arial"/>
              </a:defRPr>
            </a:pPr>
            <a:r>
              <a:t>PROPOSAL MASTER &amp; ROADMAP IMPLEMENTASI</a:t>
            </a:r>
          </a:p>
          <a:p>
            <a:pPr>
              <a:spcAft>
                <a:spcPts val="1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Modernisasi Gerbang Akses Swing Barrier Gate &amp;</a:t>
            </a:r>
            <a:br/>
            <a:r>
              <a:t>Sistem Enterprise Gym Management POS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Integrasi Biometrik Face Recognition AI, Dual-Direction Gate, dan Point of Sale Terpadu</a:t>
            </a:r>
          </a:p>
          <a:p>
            <a:pPr>
              <a:defRPr sz="1100" b="1">
                <a:solidFill>
                  <a:srgbClr val="FFC067"/>
                </a:solidFill>
                <a:latin typeface="Arial"/>
              </a:defRPr>
            </a:pPr>
            <a:r>
              <a:t>Disusun oleh: Zag Digital Indonesia  •  Untuk: Owner &amp; Manajemen Kaisar Gym Pontianak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BUSINESS VALUE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Mengapa Kaisar Gym Perlu Bertransformasi?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3054096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1. Kebocoran Member Ilegal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Member numpang teman saat jam ramai.</a:t>
            </a:r>
            <a:br/>
            <a:r>
              <a:t>• Member expired tetap bebas latihan tanpa ketahuan kasir.</a:t>
            </a:r>
            <a:br/>
            <a:r>
              <a:t>• Potensi kehilangan omset hingga puluhan juta per bulan.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664208"/>
            <a:ext cx="3054096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2. Pembukuan &amp; Kasir Rawan Selisih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Transaksi kasir manual rawan salah hitung.</a:t>
            </a:r>
            <a:br/>
            <a:r>
              <a:t>• Belum ada cetak nota resmi berlogo &amp; cap lunas otomatis.</a:t>
            </a:r>
            <a:br/>
            <a:r>
              <a:t>• Rekonsiliasi modal kas harian memakan waktu staf.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664208"/>
            <a:ext cx="3054096" cy="188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3. Pengalaman Member Konvensional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Harus titip kartu fisik di meja resepsionis.</a:t>
            </a:r>
            <a:br/>
            <a:r>
              <a:t>• Antrean kasir memperlambat alur masuk member.</a:t>
            </a:r>
            <a:br/>
            <a:r>
              <a:t>• Belum ada notifikasi otomatis pengingat paket habis via WhatsApp.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4164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Solusi: Zero Illegal Access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Pintu gerbang 100% terkunci elektrik. Hanya member dengan status ACTIVE yang dapat membuka pintu swing barrier.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393192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404164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Solusi: POS Terintegrasi Penuh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Pembayaran di kasir (Membership, Daily Pass, PT, Retail) langsung membuka akses gerbang dan tercetak rapi pada nota standar A4.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931920"/>
            <a:ext cx="33284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4041648"/>
            <a:ext cx="3054096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Solusi: Touchless Face AI Experience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Member cukup menatap kamera gerbang (Face ID) tanpa repot bawa kartu fisik. Menaikkan prestise Kaisar Gym ke standar mega-gym modern.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INVESTASI &amp; SPESIFIKASI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Rincian Pengadaan Hardware &amp; Pemasangan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pic>
        <p:nvPicPr>
          <p:cNvPr id="6" name="Picture 5" descr="media_1792478043896_6aeb32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463040"/>
            <a:ext cx="51206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72768"/>
            <a:ext cx="48463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1. Swing Barrier Gate 1 CH EGS012 (Rp 23.000.000)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Material Stainless Steel SUS304 (tebal ≥ 1.5mm) tahan karat &amp; keringat. Motor Brushless DC 24V halus dan awet. Kecepatan buka ≤ 0.4 detik (50 orang/menit).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880360"/>
            <a:ext cx="512064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990088"/>
            <a:ext cx="484632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2. Entragate IMS Controller (Rp 6.000.000)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Otak gerbang dengan komunikasi Ethernet LAN &amp; Support API Lokal. Terhubung langsung dengan Server POS Kaisar Gym melalui kabel jaringan lokal.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97680"/>
            <a:ext cx="5120640" cy="1554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407408"/>
            <a:ext cx="484632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3. Reader Face Dome AI (2 Unit = Rp 10.000.000)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Kapasitas 5.000 Wajah, 5.000 QR, 5.000 Kartu. 1 Unit untuk Arah Masuk (IN) dan 1 Unit untuk Arah Keluar (OUT).</a:t>
            </a:r>
            <a:br/>
            <a:r>
              <a:t>★ CATATAN: Total Rp 39.000.000 sudah All-In termasuk jasa pasang &amp; setting.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DESAIN LAYOUT GERBANG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Konsep Gerbang: 1-Channel Bidirectional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305409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Reader Luar (Sisi Masuk / IN)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Dipasang di tiang depan menghadap koridor luar.</a:t>
            </a:r>
            <a:br/>
            <a:r>
              <a:t>• Member yang tiba cukup menatap kamera Face ID atau scan QR di HP.</a:t>
            </a:r>
            <a:br/>
            <a:r>
              <a:t>• Saat status valid, daun akrilik mengayun membuka ke arah DALAM.</a:t>
            </a:r>
            <a:br/>
            <a:r>
              <a:t>• Member dipersilakan masuk latihan.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664208"/>
            <a:ext cx="305409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Reader Dalam (Sisi Keluar / OUT)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Dipasang di tiang dalam menghadap area fitness.</a:t>
            </a:r>
            <a:br/>
            <a:r>
              <a:t>• Member yang selesai latihan menatap kamera Face ID keluar.</a:t>
            </a:r>
            <a:br/>
            <a:r>
              <a:t>• Saat terdeteksi, daun akrilik mengayun membuka ke arah LUAR.</a:t>
            </a:r>
            <a:br/>
            <a:r>
              <a:t>• Sistem otomatis mencatat durasi latihan &amp; jam keluar di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664208"/>
            <a:ext cx="305409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Keunggulan &amp; Fitur Keselamatan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1. Efisiensi Tempat &amp; Biaya:</a:t>
            </a:r>
            <a:br/>
            <a:r>
              <a:t>Cukup 1 lorong lorong (1 pasang pedestal) untuk masuk dan keluar bergantian.</a:t>
            </a:r>
            <a:br/>
            <a:br/>
            <a:r>
              <a:t>2. Daun Akrilik Ramah Pengguna:</a:t>
            </a:r>
            <a:br/>
            <a:r>
              <a:t>Tidak menyangkut di tas gym besar seperti tripod putar lama.</a:t>
            </a:r>
            <a:br/>
            <a:br/>
            <a:r>
              <a:t>3. Fail-Safe Pemadaman Listrik:</a:t>
            </a:r>
            <a:br/>
            <a:r>
              <a:t>Jika listrik padam, motor otomatis melepas kunci dan daun akrilik bebas didorong untuk evakuasi darurat.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INTEGRASI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Arsitektur Komunikasi API: Gate ↔ 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484632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Alur Verifikasi Otomatis (Face ➔ Gate)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1. Member hadapkan wajah ke Reader Face Dome AI.</a:t>
            </a:r>
            <a:br/>
            <a:r>
              <a:t>2. Controller mengirim data ID member ke POS Server via LAN.</a:t>
            </a:r>
            <a:br/>
            <a:r>
              <a:t>3. Backend POS memeriksa status paket membership di database:</a:t>
            </a:r>
            <a:br/>
            <a:r>
              <a:t>   • ACTIVE &amp; Belum Expired ➔ Respon ALLOW ➔ Gate Membuka.</a:t>
            </a:r>
            <a:br/>
            <a:r>
              <a:t>   • PENDING / CUTI / EXPIRED ➔ Respon DENY ➔ Buzzer Merah Berbunyi.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64208"/>
            <a:ext cx="484632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Aturan Bisnis Status Membership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Menunggu Aktivasi: Paket dibeli sekarang, aktif mulai tanggal yang dipilih. Gate otomatis menolak jika belum masuk tanggal mulai.</a:t>
            </a:r>
            <a:br/>
            <a:r>
              <a:t>• Masa Cuti (Freeze): Akses dikunci sementara selama periode cuti.</a:t>
            </a:r>
            <a:br/>
            <a:r>
              <a:t>• Expired: Gerbang terkunci dan member diarahkan ke kasir untuk perpanjangan.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1042416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Fitur Tambahan: Tombol Override Buka Gate di Layar Kasir POS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Kasir / Front Desk memiliki tombol manual 'BUKA GERBANG' di layar POS. Sangat berguna untuk:</a:t>
            </a:r>
            <a:br/>
            <a:r>
              <a:t>• Tamu penting / VIP yang berkunjung tanpa scan wajah.</a:t>
            </a:r>
            <a:br/>
            <a:r>
              <a:t>• Pengunjung harian (Daily Pass) atau trial sesi pertama.</a:t>
            </a:r>
            <a:br/>
            <a:r>
              <a:t>• Staf teknisi / vendor yang membawa peralatan besar ke dalam gym.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TIMELINE PEKERJAAN (5 HARI)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Roadmap Eksekusi: Dari Nol Sampai Go-Live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029968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1755648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Hari 1</a:t>
            </a:r>
            <a:br/>
            <a:r>
              <a:t>Sipil &amp; Pre-Instalasi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Pengeboran dynabolt baja ke lantai, penarikan pipa conduit, kabel power AC220V grounded &amp; kabel UTP LAN Cat6.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554480"/>
            <a:ext cx="2029968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664208"/>
            <a:ext cx="1755648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Hari 2</a:t>
            </a:r>
            <a:br/>
            <a:r>
              <a:t>Pemasangan Fisik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Anchoring 2 pedestal SS304, kalibrasi sayap akrilik, dan mounting 2 unit Reader Face Dome AI (IN/OUT).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554480"/>
            <a:ext cx="2029968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664208"/>
            <a:ext cx="1755648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Hari 3</a:t>
            </a:r>
            <a:br/>
            <a:r>
              <a:t>Jaringan &amp; Integrasi API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Setting IP statis Entragate Controller, menghubungkan relay Wiegand/dry-contact, integrasi webhook ke Server POS.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554480"/>
            <a:ext cx="2029968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1664208"/>
            <a:ext cx="1755648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Hari 4</a:t>
            </a:r>
            <a:br/>
            <a:r>
              <a:t>Testing UAT Menyeluruh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Simulasi scan member aktif, expired, cuti, pending activation, uji buka dua arah, dan uji fail-safe saat mati listrik.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554480"/>
            <a:ext cx="2029968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1664208"/>
            <a:ext cx="1755648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Hari 5</a:t>
            </a:r>
            <a:br/>
            <a:r>
              <a:t>Training Staf &amp; Go-Live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Pelatihan staf kasir, resepsionis &amp; coach mengenai SOP operasional gate, sinkronisasi wajah member, dan Go-Live resmi.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FITUR SOFTWARE 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Sistem POS: Kasir, Billing &amp; Shift Kas Kecil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3054096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Katalog Produk &amp; Paket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Membership Reguler, Studio, VIP, Student.</a:t>
            </a:r>
            <a:br/>
            <a:r>
              <a:t>• Tiket Masuk Harian (Daily Pass).</a:t>
            </a:r>
            <a:br/>
            <a:r>
              <a:t>• Paket Personal Trainer (12/24 sesi).</a:t>
            </a:r>
            <a:br/>
            <a:r>
              <a:t>• Retail F&amp;B, Suplemen Whey, Air Mineral.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664208"/>
            <a:ext cx="3054096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Metode Pembayaran Lengkap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Pembayaran Tunai (Cash).</a:t>
            </a:r>
            <a:br/>
            <a:r>
              <a:t>• QRIS Statis / Dinamis.</a:t>
            </a:r>
            <a:br/>
            <a:r>
              <a:t>• Transfer Bank (BCA, Mandiri, dll).</a:t>
            </a:r>
            <a:br/>
            <a:r>
              <a:t>• Split Payment (sebagian tunai + sebagian transfer).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664208"/>
            <a:ext cx="3054096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Cetak Nota Resmi Standar A4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Format nota ukuran A4 standar profesional.</a:t>
            </a:r>
            <a:br/>
            <a:r>
              <a:t>• Dilengkapi Logo Resmi Kaisar Gym.</a:t>
            </a:r>
            <a:br/>
            <a:r>
              <a:t>• Alamat lengkap Jl. Patimura No.84 Pontianak.</a:t>
            </a:r>
            <a:br/>
            <a:r>
              <a:t>• Dilengkapi Cap Stempel 'LUNAS' otomatis.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41648"/>
            <a:ext cx="493776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SOP Buka-Tutup Shift Kasir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Setiap pergantian kasir wajib input saldo modal laci di awal shift. Di akhir shift, kasir memasukkan jumlah uang fisik riil. Sistem secara otomatis menghitung ada/tidaknya selisih kas demi akuntabilitas 100%.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41648"/>
            <a:ext cx="4937760" cy="2066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Laporan Finansial Real-Time untuk Owner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Owner dapat memantau omset harian, mingguan, dan bulanan langsung dari smartphone atau laptop kapan saja tanpa harus menunggu laporan bulanan manual staf.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FITUR SOFTWARE 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CRM Member, Kelas Studio &amp; Personal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305409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1. CRM &amp; Keanggotaan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Pendaftaran Member Baru cepat dengan upload foto KTP dan foto wajah.</a:t>
            </a:r>
            <a:br/>
            <a:r>
              <a:t>• Pencatatan nomor plat kendaraan untuk hak akses parkir member.</a:t>
            </a:r>
            <a:br/>
            <a:r>
              <a:t>• Broadcast WhatsApp Otomatis: pengingat masa aktif paket akan habis H-7 dan H-3.</a:t>
            </a:r>
            <a:br/>
            <a:r>
              <a:t>• Pengelolaan masa cuti member resmi berjangka waktu.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664208"/>
            <a:ext cx="305409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067"/>
                </a:solidFill>
                <a:latin typeface="Arial"/>
              </a:defRPr>
            </a:pPr>
            <a:r>
              <a:t>2. Studio Classes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Penjadwalan kelas studio (Yoga, Zumba, Spinning, Aerobic, Muay Thai).</a:t>
            </a:r>
            <a:br/>
            <a:r>
              <a:t>• Batasan kuota peserta kelas untuk kenyamanan studio.</a:t>
            </a:r>
            <a:br/>
            <a:r>
              <a:t>• Booking mandiri oleh member melalui web portal smartphone.</a:t>
            </a:r>
            <a:br/>
            <a:r>
              <a:t>• Laporan tingkat keterisian kelas untuk evaluasi jadwal terpopuler.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2" y="1664208"/>
            <a:ext cx="3054096" cy="4443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3. Personal Trainer (PT)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Pembelian kontrak sesi PT (12, 24, atau 36 sesi).</a:t>
            </a:r>
            <a:br/>
            <a:r>
              <a:t>• Input eksekusi sesi latihan oleh coach setelah selesai melatih.</a:t>
            </a:r>
            <a:br/>
            <a:r>
              <a:t>• Pengurangan kuota sesi otomatis dan transparan.</a:t>
            </a:r>
            <a:br/>
            <a:r>
              <a:t>• Rekapitulasi sesi selesai untuk perhitungan komisi trainer yang adil dan akurat.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067"/>
                </a:solidFill>
                <a:latin typeface="Arial"/>
              </a:defRPr>
            </a:pPr>
            <a:r>
              <a:t>TATA KELOLA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SOP &amp; Matriks Hak Akses (RBAC 7 Roles)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11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KAISAR GYM × ZAG DIGITAL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3291840"/>
                <a:gridCol w="3383280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C067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C067"/>
                          </a:solidFill>
                        </a:defRPr>
                      </a:pPr>
                      <a:r>
                        <a:t>Pemegang Peran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C067"/>
                          </a:solidFill>
                        </a:defRPr>
                      </a:pPr>
                      <a:r>
                        <a:t>Hak Akses / Wewenang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C067"/>
                          </a:solidFill>
                        </a:defRPr>
                      </a:pPr>
                      <a:r>
                        <a:t>Kewajiban SOP Harian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067"/>
                          </a:solidFill>
                        </a:defRPr>
                      </a:pPr>
                      <a:r>
                        <a:t>SUPER_ADMIN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Owner Kaisar Gym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Akses penuh laporan omset, master harga paket, audit transaksi &amp; kelola akun staf.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Review omset harian &amp; bulanan, approval kebijakan promo dan ekspansi.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067"/>
                          </a:solidFill>
                        </a:defRPr>
                      </a:pPr>
                      <a:r>
                        <a:t>OPS_MANAGER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Manajer Operasional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Akses operasional cabang, approval cuti member, audit shift kasir, buka gate darurat.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Verifikasi setoran kas harian kasir, analisis kepadatan gerbang &amp; stok opname retail.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067"/>
                          </a:solidFill>
                        </a:defRPr>
                      </a:pPr>
                      <a:r>
                        <a:t>CASHIER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Front Desk / Resepsionis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Transaksi POS, registrasi member baru, cetak nota A4, buka shift &amp; tutup shift kasir.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Hitung modal awal laci, foto wajah member saat daftar, rekonsiliasi uang fisik saat tutup shift.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067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Coach / Personal Trainer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Melihat jadwal sesi PT, input log latihan selesai, cek rekapitulasi komisi sesi.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Presensi selfie GPS di area gym, input materi latihan &amp; konfirmasi pemakaian sesi member.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728655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18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C067"/>
                </a:solidFill>
              </a:defRPr>
            </a:pPr>
            <a:r>
              <a:t>KESIMPULAN &amp; NILAI STRATEGIS BAGI KAISAR GYM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1. Proteksi Finansial 100%: Menutup total peluang member tak bertiket masuk latihan dan memastikan setiap rupiah tercatat di POS.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2. Standar Mega-Gym Modern: Teknologi Swing Barrier SUS304 + Face Dome AI menghadirkan pengalaman kelas atas yang membanggakan bagi seluruh member.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3. Efisiensi Kerja &amp; Akuntabilitas Staf: SOP shift kasir, absensi selfie GPS karyawan, dan pembagian peran RBAC mencegah manipulasi internal.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4. Kesiapan Penuh Eksekusi: Tim Zag Digital Indonesia siap memimpin eksekusi fisik hingga integrasi software dalam 5 hari kerja tanpa mengganggu operasional gym.</a:t>
            </a:r>
          </a:p>
          <a:p>
            <a:br/>
            <a:pPr>
              <a:defRPr sz="1100" b="1">
                <a:solidFill>
                  <a:srgbClr val="FFC067"/>
                </a:solidFill>
              </a:defRPr>
            </a:pPr>
            <a:r>
              <a:t>Terima Kasih  •  Siap Menjawab Pertanyaan &amp; Diskusi Lebih Lanjut</a:t>
            </a:r>
            <a:br/>
            <a:r>
              <a:t>Disiapkan dengan dedikasi oleh ZAG DIGITAL INDONESIA untuk KAISAR GYM</a:t>
            </a:r>
          </a:p>
        </p:txBody>
      </p:sp>
      <p:pic>
        <p:nvPicPr>
          <p:cNvPr id="5" name="Picture 4" descr="media_1792480325884_995491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6634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