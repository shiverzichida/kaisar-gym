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EDC41079-9431-2CE1-1ABD-4DA9E7933D29}">
          <p14:sldIdLst>
            <p14:sldId id="256"/>
          </p14:sldIdLst>
        </p14:section>
        <p14:section name="Business Value" id="{63AF28B4-DB6D-9B04-4292-BEF795628D12}">
          <p14:sldIdLst>
            <p14:sldId id="257"/>
          </p14:sldIdLst>
        </p14:section>
        <p14:section name="Investasi" id="{EF4B633E-018F-83AF-1A11-FFBC12B98F93}">
          <p14:sldIdLst>
            <p14:sldId id="258"/>
            <p14:sldId id="259"/>
          </p14:sldIdLst>
        </p14:section>
        <p14:section name="Desain" id="{381B5FC3-C119-BE5A-645E-BC22E88B7CD7}">
          <p14:sldIdLst>
            <p14:sldId id="260"/>
          </p14:sldIdLst>
        </p14:section>
        <p14:section name="Integrasi" id="{D18DFAC9-DE8D-6F12-23CA-F54F9F50B660}">
          <p14:sldIdLst>
            <p14:sldId id="261"/>
          </p14:sldIdLst>
        </p14:section>
        <p14:section name="Pengalaman Member" id="{1AE9BC9C-B33B-E5E3-3BB5-10BD13107865}">
          <p14:sldIdLst>
            <p14:sldId id="262"/>
            <p14:sldId id="263"/>
          </p14:sldIdLst>
        </p14:section>
        <p14:section name="Fitur POS" id="{85A84C3C-180F-4E97-A20E-AEAAE4E9F61F}">
          <p14:sldIdLst>
            <p14:sldId id="264"/>
            <p14:sldId id="265"/>
          </p14:sldIdLst>
        </p14:section>
        <p14:section name="Tata Kelola" id="{C6E7F076-BD93-E4F2-4CDD-B66AF2E4ACDD}">
          <p14:sldIdLst>
            <p14:sldId id="266"/>
          </p14:sldIdLst>
        </p14:section>
        <p14:section name="Penutup" id="{F8FF100A-94CE-67EB-3DF0-DC2D8293187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03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785"/>
                </a:solidFill>
              </a:rPr>
              <a:t>KAISAR GYM × ZAG DIGITAL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9A6F1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B1530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C9AC0"/>
                </a:solidFill>
              </a:rPr>
              <a:t>KAISAR GYM × ZAG DIGITAL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D4A63F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9AC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mber melewati swing barrier gat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Photo tint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B1530">
              <a:alpha val="45000"/>
            </a:srgbClr>
          </a:solidFill>
          <a:ln/>
        </p:spPr>
      </p:sp>
      <p:pic>
        <p:nvPicPr>
          <p:cNvPr id="4" name="Image 1" descr="Logo Kaisar Gy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0080"/>
            <a:ext cx="960120" cy="960120"/>
          </a:xfrm>
          <a:prstGeom prst="ellipse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64592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4A63F"/>
                </a:solidFill>
              </a:rPr>
              <a:t>×</a:t>
            </a:r>
            <a:endParaRPr lang="en-US" sz="2400" dirty="0"/>
          </a:p>
        </p:txBody>
      </p:sp>
      <p:pic>
        <p:nvPicPr>
          <p:cNvPr id="6" name="Image 2" descr="Logo Zag Digital Indones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640080"/>
            <a:ext cx="960120" cy="9601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2331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63F"/>
                </a:solidFill>
              </a:rPr>
              <a:t>PROPOSAL MASTER &amp; ROADMAP IMPLEMENTASI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274320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Modernisasi Gerbang Akses Swing Barrier Gate &amp; Sistem Enterprise Gym Management POS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800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CEE6"/>
                </a:solidFill>
              </a:rPr>
              <a:t>Integrasi Biometrik Face Recognition AI, Dual-Direction Gate, dan Point of Sale Terpadu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6692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C9AC0"/>
                </a:solidFill>
              </a:rPr>
              <a:t>Disusun oleh: </a:t>
            </a:r>
            <a:r>
              <a:rPr lang="en-US" sz="1400" b="1" dirty="0">
                <a:solidFill>
                  <a:srgbClr val="FFFFFF"/>
                </a:solidFill>
              </a:rPr>
              <a:t>Zag Digital Indonesia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C9AC0"/>
                </a:solidFill>
              </a:rPr>
              <a:t>Untuk: </a:t>
            </a:r>
            <a:r>
              <a:rPr lang="en-US" sz="1400" b="1" dirty="0">
                <a:solidFill>
                  <a:srgbClr val="FFFFFF"/>
                </a:solidFill>
              </a:rPr>
              <a:t>Owner &amp; Manajemen Kaisar Gym Pontianak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BUSINESS VALUE &amp; ROI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Mengapa Kaisar Gym Perlu Bertransformasi?</a:t>
            </a:r>
            <a:endParaRPr lang="en-US" sz="3200" dirty="0"/>
          </a:p>
        </p:txBody>
      </p:sp>
      <p:sp>
        <p:nvSpPr>
          <p:cNvPr id="4" name="Masalah 1"/>
          <p:cNvSpPr/>
          <p:nvPr/>
        </p:nvSpPr>
        <p:spPr>
          <a:xfrm>
            <a:off x="548640" y="1508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Masalah circle"/>
          <p:cNvSpPr/>
          <p:nvPr/>
        </p:nvSpPr>
        <p:spPr>
          <a:xfrm>
            <a:off x="777240" y="1719072"/>
            <a:ext cx="502920" cy="502920"/>
          </a:xfrm>
          <a:prstGeom prst="ellipse">
            <a:avLst/>
          </a:prstGeom>
          <a:solidFill>
            <a:srgbClr val="FDE8E9"/>
          </a:solidFill>
          <a:ln/>
        </p:spPr>
      </p:sp>
      <p:pic>
        <p:nvPicPr>
          <p:cNvPr id="6" name="Image 0" descr="Masala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84480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19072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Kebocoran Member Ilegal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30123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numpang teman saat jam ramai.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expired tetap bebas latihan tanpa ketahuan kasir.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Potensi kehilangan omset hingga puluhan juta per bulan.</a:t>
            </a:r>
            <a:endParaRPr lang="en-US" sz="1400" dirty="0"/>
          </a:p>
        </p:txBody>
      </p:sp>
      <p:sp>
        <p:nvSpPr>
          <p:cNvPr id="9" name="Solusi 1"/>
          <p:cNvSpPr/>
          <p:nvPr/>
        </p:nvSpPr>
        <p:spPr>
          <a:xfrm>
            <a:off x="548640" y="434340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0" name="Menuju solusi circle"/>
          <p:cNvSpPr/>
          <p:nvPr/>
        </p:nvSpPr>
        <p:spPr>
          <a:xfrm>
            <a:off x="2105101" y="4041648"/>
            <a:ext cx="402336" cy="402336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11" name="Image 1" descr="Menuju solus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685" y="414223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4526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A63F"/>
                </a:solidFill>
              </a:rPr>
              <a:t>Solusi: Zero Illegal Access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50749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Pintu gerbang 100% terkunci elektrik. Hanya member dengan status ACTIVE yang dapat membuka pintu swing barrier.</a:t>
            </a:r>
            <a:endParaRPr lang="en-US" sz="1300" dirty="0"/>
          </a:p>
        </p:txBody>
      </p:sp>
      <p:sp>
        <p:nvSpPr>
          <p:cNvPr id="14" name="Masalah 2"/>
          <p:cNvSpPr/>
          <p:nvPr/>
        </p:nvSpPr>
        <p:spPr>
          <a:xfrm>
            <a:off x="4338218" y="1508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5" name="Masalah circle"/>
          <p:cNvSpPr/>
          <p:nvPr/>
        </p:nvSpPr>
        <p:spPr>
          <a:xfrm>
            <a:off x="4566818" y="1719072"/>
            <a:ext cx="502920" cy="502920"/>
          </a:xfrm>
          <a:prstGeom prst="ellipse">
            <a:avLst/>
          </a:prstGeom>
          <a:solidFill>
            <a:srgbClr val="FDE8E9"/>
          </a:solidFill>
          <a:ln/>
        </p:spPr>
      </p:sp>
      <p:pic>
        <p:nvPicPr>
          <p:cNvPr id="16" name="Image 2" descr="Masala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548" y="184480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06898" y="1719072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Pembukuan &amp; Kasir Rawan Selisih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612538" y="2423160"/>
            <a:ext cx="30123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Transaksi kasir manual rawan salah hitung.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Belum ada cetak nota resmi berlogo &amp; cap lunas otomatis.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Rekonsiliasi modal kas harian memakan waktu staf.</a:t>
            </a:r>
            <a:endParaRPr lang="en-US" sz="1400" dirty="0"/>
          </a:p>
        </p:txBody>
      </p:sp>
      <p:sp>
        <p:nvSpPr>
          <p:cNvPr id="19" name="Solusi 2"/>
          <p:cNvSpPr/>
          <p:nvPr/>
        </p:nvSpPr>
        <p:spPr>
          <a:xfrm>
            <a:off x="4338218" y="434340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0" name="Menuju solusi circle"/>
          <p:cNvSpPr/>
          <p:nvPr/>
        </p:nvSpPr>
        <p:spPr>
          <a:xfrm>
            <a:off x="5894680" y="4041648"/>
            <a:ext cx="402336" cy="402336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21" name="Image 3" descr="Menuju solus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64" y="414223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12538" y="4526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A63F"/>
                </a:solidFill>
              </a:rPr>
              <a:t>Solusi: POS Terintegrasi Penuh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612538" y="50749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Pembayaran di kasir (Membership, Daily Pass, PT, Retail) langsung membuka akses gerbang dan tercetak rapi pada nota standar A4.</a:t>
            </a:r>
            <a:endParaRPr lang="en-US" sz="1300" dirty="0"/>
          </a:p>
        </p:txBody>
      </p:sp>
      <p:sp>
        <p:nvSpPr>
          <p:cNvPr id="24" name="Masalah 3"/>
          <p:cNvSpPr/>
          <p:nvPr/>
        </p:nvSpPr>
        <p:spPr>
          <a:xfrm>
            <a:off x="8127797" y="1508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5" name="Masalah circle"/>
          <p:cNvSpPr/>
          <p:nvPr/>
        </p:nvSpPr>
        <p:spPr>
          <a:xfrm>
            <a:off x="8356397" y="1719072"/>
            <a:ext cx="502920" cy="502920"/>
          </a:xfrm>
          <a:prstGeom prst="ellipse">
            <a:avLst/>
          </a:prstGeom>
          <a:solidFill>
            <a:srgbClr val="FDE8E9"/>
          </a:solidFill>
          <a:ln/>
        </p:spPr>
      </p:sp>
      <p:pic>
        <p:nvPicPr>
          <p:cNvPr id="26" name="Image 4" descr="Masala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127" y="184480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996477" y="1719072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Pengalaman Member Konvensional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402117" y="2423160"/>
            <a:ext cx="30123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Harus titip kartu fisik di meja resepsionis.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Antrean kasir memperlambat alur masuk member.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Belum ada notifikasi otomatis pengingat paket habis via WhatsApp.</a:t>
            </a:r>
            <a:endParaRPr lang="en-US" sz="1400" dirty="0"/>
          </a:p>
        </p:txBody>
      </p:sp>
      <p:sp>
        <p:nvSpPr>
          <p:cNvPr id="29" name="Solusi 3"/>
          <p:cNvSpPr/>
          <p:nvPr/>
        </p:nvSpPr>
        <p:spPr>
          <a:xfrm>
            <a:off x="8127797" y="434340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30" name="Menuju solusi circle"/>
          <p:cNvSpPr/>
          <p:nvPr/>
        </p:nvSpPr>
        <p:spPr>
          <a:xfrm>
            <a:off x="9684258" y="4041648"/>
            <a:ext cx="402336" cy="402336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31" name="Image 5" descr="Menuju solus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842" y="414223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02117" y="4526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A63F"/>
                </a:solidFill>
              </a:rPr>
              <a:t>Solusi: Touchless Face AI Experience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02117" y="50749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Member cukup menatap kamera gerbang (Face ID) tanpa repot bawa kartu fisik. Menaikkan prestise Kaisar Gym ke standar mega-gym modern.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INVESTASI &amp; SPESIFIKASI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Rincian Pengadaan Hardware &amp; Pemasangan</a:t>
            </a:r>
            <a:endParaRPr lang="en-US" sz="3200" dirty="0"/>
          </a:p>
        </p:txBody>
      </p:sp>
      <p:sp>
        <p:nvSpPr>
          <p:cNvPr id="4" name="Foto penawaran"/>
          <p:cNvSpPr/>
          <p:nvPr/>
        </p:nvSpPr>
        <p:spPr>
          <a:xfrm>
            <a:off x="548640" y="1508760"/>
            <a:ext cx="5120640" cy="3388459"/>
          </a:xfrm>
          <a:prstGeom prst="roundRect">
            <a:avLst>
              <a:gd name="adj" fmla="val 323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5" name="Image 0" descr="Tabel rincian harga hardw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846320" cy="3114139"/>
          </a:xfrm>
          <a:prstGeom prst="rect">
            <a:avLst/>
          </a:prstGeom>
        </p:spPr>
      </p:pic>
      <p:sp>
        <p:nvSpPr>
          <p:cNvPr id="6" name="Item 1"/>
          <p:cNvSpPr/>
          <p:nvPr/>
        </p:nvSpPr>
        <p:spPr>
          <a:xfrm>
            <a:off x="5989320" y="1508760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7" name="Number 1"/>
          <p:cNvSpPr txBox="1"/>
          <p:nvPr/>
        </p:nvSpPr>
        <p:spPr>
          <a:xfrm>
            <a:off x="6172200" y="1691640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600200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Swing Barrier Gate 1 CH EGS012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585655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23.000.000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2011680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Material Stainless Steel SUS304 (tebal ≥ 1.5mm) tahan karat &amp; keringat. Motor Brushless DC 24V halus dan awet. Kecepatan buka ≤ 0.4 detik (50 orang/menit).</a:t>
            </a:r>
            <a:endParaRPr lang="en-US" sz="1300" dirty="0"/>
          </a:p>
        </p:txBody>
      </p:sp>
      <p:sp>
        <p:nvSpPr>
          <p:cNvPr id="11" name="Item 2"/>
          <p:cNvSpPr/>
          <p:nvPr/>
        </p:nvSpPr>
        <p:spPr>
          <a:xfrm>
            <a:off x="5989320" y="2807208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2" name="Number 2"/>
          <p:cNvSpPr txBox="1"/>
          <p:nvPr/>
        </p:nvSpPr>
        <p:spPr>
          <a:xfrm>
            <a:off x="6172200" y="2990088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2898648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Entragate IMS Controller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85655" y="28986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6.000.000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3310128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Otak gerbang dengan komunikasi Ethernet LAN &amp; Support API Lokal. Terhubung langsung dengan Server POS Kaisar Gym melalui kabel jaringan lokal.</a:t>
            </a:r>
            <a:endParaRPr lang="en-US" sz="1300" dirty="0"/>
          </a:p>
        </p:txBody>
      </p:sp>
      <p:sp>
        <p:nvSpPr>
          <p:cNvPr id="16" name="Item 3"/>
          <p:cNvSpPr/>
          <p:nvPr/>
        </p:nvSpPr>
        <p:spPr>
          <a:xfrm>
            <a:off x="5989320" y="4105656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7" name="Number 3"/>
          <p:cNvSpPr txBox="1"/>
          <p:nvPr/>
        </p:nvSpPr>
        <p:spPr>
          <a:xfrm>
            <a:off x="6172200" y="4288536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4197096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Reader Face Dome AI (2 Unit)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585655" y="41970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10.000.000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4608576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Kapasitas 5.000 Wajah, 5.000 QR, 5.000 Kartu. 1 unit untuk arah Masuk (IN) dan 1 unit untuk arah Keluar (OUT).</a:t>
            </a:r>
            <a:endParaRPr lang="en-US" sz="1300" dirty="0"/>
          </a:p>
        </p:txBody>
      </p:sp>
      <p:sp>
        <p:nvSpPr>
          <p:cNvPr id="21" name="Total investasi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" y="5577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63F"/>
                </a:solidFill>
              </a:rPr>
              <a:t>TOTAL INVESTASI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834640" y="5577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39.000.000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577840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INVESTASI &amp; SPESIFIKASI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Rincian Pengadaan Hardware &amp; Pemasangan</a:t>
            </a:r>
            <a:endParaRPr lang="en-US" sz="3200" dirty="0"/>
          </a:p>
        </p:txBody>
      </p:sp>
      <p:sp>
        <p:nvSpPr>
          <p:cNvPr id="4" name="Foto penawaran"/>
          <p:cNvSpPr/>
          <p:nvPr/>
        </p:nvSpPr>
        <p:spPr>
          <a:xfrm>
            <a:off x="548640" y="1508760"/>
            <a:ext cx="5120640" cy="3422357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5" name="Image 0" descr="Tabel rincian harga hardw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846320" cy="3148037"/>
          </a:xfrm>
          <a:prstGeom prst="rect">
            <a:avLst/>
          </a:prstGeom>
        </p:spPr>
      </p:pic>
      <p:sp>
        <p:nvSpPr>
          <p:cNvPr id="6" name="Item 1"/>
          <p:cNvSpPr/>
          <p:nvPr/>
        </p:nvSpPr>
        <p:spPr>
          <a:xfrm>
            <a:off x="5989320" y="1508760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7" name="Number 1"/>
          <p:cNvSpPr txBox="1"/>
          <p:nvPr/>
        </p:nvSpPr>
        <p:spPr>
          <a:xfrm>
            <a:off x="6172200" y="1691640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600200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Swing Barrier Gate 2 CH EGS012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585655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35.000.000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2011680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Material Stainless Steel SUS304 (tebal ≥ 1.5mm) tahan karat &amp; keringat. Motor Brushless DC 24V halus dan awet. Kecepatan buka ≤ 0.4 detik (50 orang/menit).</a:t>
            </a:r>
            <a:endParaRPr lang="en-US" sz="1300" dirty="0"/>
          </a:p>
        </p:txBody>
      </p:sp>
      <p:sp>
        <p:nvSpPr>
          <p:cNvPr id="11" name="Item 2"/>
          <p:cNvSpPr/>
          <p:nvPr/>
        </p:nvSpPr>
        <p:spPr>
          <a:xfrm>
            <a:off x="5989320" y="2807208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2" name="Number 2"/>
          <p:cNvSpPr txBox="1"/>
          <p:nvPr/>
        </p:nvSpPr>
        <p:spPr>
          <a:xfrm>
            <a:off x="6172200" y="2990088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2898648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Entragate IMS Controller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85655" y="28986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6.000.000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3310128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Otak gerbang dengan komunikasi Ethernet LAN &amp; Support API Lokal. Terhubung langsung dengan Server POS Kaisar Gym melalui kabel jaringan lokal.</a:t>
            </a:r>
            <a:endParaRPr lang="en-US" sz="1300" dirty="0"/>
          </a:p>
        </p:txBody>
      </p:sp>
      <p:sp>
        <p:nvSpPr>
          <p:cNvPr id="16" name="Item 3"/>
          <p:cNvSpPr/>
          <p:nvPr/>
        </p:nvSpPr>
        <p:spPr>
          <a:xfrm>
            <a:off x="5989320" y="4105656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7" name="Number 3"/>
          <p:cNvSpPr txBox="1"/>
          <p:nvPr/>
        </p:nvSpPr>
        <p:spPr>
          <a:xfrm>
            <a:off x="6172200" y="4288536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4197096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Reader Face Dome AI (2 Unit)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585655" y="41970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10.000.000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4608576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Kapasitas 5.000 Wajah, 5.000 QR, 5.000 Kartu. 1 unit untuk arah Masuk (IN) dan 1 unit untuk arah Keluar (OUT).</a:t>
            </a:r>
            <a:endParaRPr lang="en-US" sz="1300" dirty="0"/>
          </a:p>
        </p:txBody>
      </p:sp>
      <p:sp>
        <p:nvSpPr>
          <p:cNvPr id="21" name="Total investasi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" y="5577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63F"/>
                </a:solidFill>
              </a:rPr>
              <a:t>TOTAL INVESTASI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834640" y="5577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51.000.000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577840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DESAIN LAYOUT GERBANG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Konsep Gerbang: 1-Channel Bidirectional</a:t>
            </a:r>
            <a:endParaRPr lang="en-US" sz="3200" dirty="0"/>
          </a:p>
        </p:txBody>
      </p:sp>
      <p:sp>
        <p:nvSpPr>
          <p:cNvPr id="4" name="Reader Luar"/>
          <p:cNvSpPr/>
          <p:nvPr/>
        </p:nvSpPr>
        <p:spPr>
          <a:xfrm>
            <a:off x="548640" y="1508760"/>
            <a:ext cx="541004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Reader Luar circle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6" name="Image 0" descr="Reader Lu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8859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37360"/>
            <a:ext cx="412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6F12"/>
                </a:solidFill>
              </a:rPr>
              <a:t>SISI MASUK / 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6596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</a:rPr>
              <a:t>Reader Luar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6032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Dipasang di tiang depan menghadap koridor luar.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cukup menatap kamera Face ID atau scan QR di HP.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Saat status valid, daun akrilik mengayun membuka ke arah DALAM.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dipersilakan masuk latihan.</a:t>
            </a:r>
            <a:endParaRPr lang="en-US" sz="1400" dirty="0"/>
          </a:p>
        </p:txBody>
      </p:sp>
      <p:sp>
        <p:nvSpPr>
          <p:cNvPr id="10" name="Reader Dalam"/>
          <p:cNvSpPr/>
          <p:nvPr/>
        </p:nvSpPr>
        <p:spPr>
          <a:xfrm>
            <a:off x="6233008" y="1508760"/>
            <a:ext cx="541004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1" name="Reader Dalam circle"/>
          <p:cNvSpPr/>
          <p:nvPr/>
        </p:nvSpPr>
        <p:spPr>
          <a:xfrm>
            <a:off x="6507328" y="17373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Reader Dal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918" y="18859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84568" y="1737360"/>
            <a:ext cx="412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6F12"/>
                </a:solidFill>
              </a:rPr>
              <a:t>SISI KELUAR / OUT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284568" y="196596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</a:rPr>
              <a:t>Reader Dalam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53048" y="256032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Dipasang di tiang dalam menghadap area fitness.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yang selesai latihan menatap kamera Face ID keluar.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Saat terdeteksi, daun akrilik mengayun membuka ke arah LUAR.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Sistem otomatis mencatat durasi latihan &amp; jam keluar di database.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4074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KEUNGGULAN &amp; FITUR KESELAMATAN</a:t>
            </a:r>
            <a:endParaRPr lang="en-US" sz="1200" dirty="0"/>
          </a:p>
        </p:txBody>
      </p:sp>
      <p:sp>
        <p:nvSpPr>
          <p:cNvPr id="17" name="Efisiensi Tempat &amp; Biaya"/>
          <p:cNvSpPr/>
          <p:nvPr/>
        </p:nvSpPr>
        <p:spPr>
          <a:xfrm>
            <a:off x="548640" y="47548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8" name="Efisiensi Tempat &amp; Biaya circle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19" name="Image 2" descr="Efisiensi Tempat &amp; Biay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05206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49377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Efisiensi Tempat &amp; Biaya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Cukup 1 lorong (1 pasang pedestal) untuk masuk dan keluar bergantian.</a:t>
            </a:r>
            <a:endParaRPr lang="en-US" sz="1300" dirty="0"/>
          </a:p>
        </p:txBody>
      </p:sp>
      <p:sp>
        <p:nvSpPr>
          <p:cNvPr id="22" name="Daun Akrilik Ramah Pengguna"/>
          <p:cNvSpPr/>
          <p:nvPr/>
        </p:nvSpPr>
        <p:spPr>
          <a:xfrm>
            <a:off x="4338218" y="47548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3" name="Daun Akrilik Ramah Pengguna circle"/>
          <p:cNvSpPr/>
          <p:nvPr/>
        </p:nvSpPr>
        <p:spPr>
          <a:xfrm>
            <a:off x="4566818" y="493776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24" name="Image 3" descr="Daun Akrilik Ramah Penggun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118" y="505206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161178" y="49377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Daun Akrilik Ramah Pengguna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612538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Tidak menyangkut di tas gym besar seperti tripod putar lama.</a:t>
            </a:r>
            <a:endParaRPr lang="en-US" sz="1300" dirty="0"/>
          </a:p>
        </p:txBody>
      </p:sp>
      <p:sp>
        <p:nvSpPr>
          <p:cNvPr id="27" name="Fail-Safe Pemadaman Listrik"/>
          <p:cNvSpPr/>
          <p:nvPr/>
        </p:nvSpPr>
        <p:spPr>
          <a:xfrm>
            <a:off x="8127797" y="47548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8" name="Fail-Safe Pemadaman Listrik circle"/>
          <p:cNvSpPr/>
          <p:nvPr/>
        </p:nvSpPr>
        <p:spPr>
          <a:xfrm>
            <a:off x="8356397" y="493776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29" name="Image 4" descr="Fail-Safe Pemadaman Listri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0697" y="5052060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50757" y="49377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Fail-Safe Pemadaman Listrik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402117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Jika listrik padam, motor otomatis melepas kunci dan daun akrilik bebas didorong untuk evakuasi darurat.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INTEGRASI SISTEM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Arsitektur Komunikasi API: Gate ↔ POS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ALUR VERIFIKASI OTOMATIS (FACE ➔ GATE)</a:t>
            </a:r>
            <a:endParaRPr lang="en-US" sz="1200" dirty="0"/>
          </a:p>
        </p:txBody>
      </p:sp>
      <p:sp>
        <p:nvSpPr>
          <p:cNvPr id="5" name="Face Dome AI"/>
          <p:cNvSpPr/>
          <p:nvPr/>
        </p:nvSpPr>
        <p:spPr>
          <a:xfrm>
            <a:off x="548640" y="18288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6" name="Face Dome AI circle"/>
          <p:cNvSpPr/>
          <p:nvPr/>
        </p:nvSpPr>
        <p:spPr>
          <a:xfrm>
            <a:off x="749808" y="2011680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7" name="Image 0" descr="Face Dome 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1259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6F12"/>
                </a:solidFill>
              </a:rPr>
              <a:t>LANGKAH 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40"/>
                </a:solidFill>
              </a:rPr>
              <a:t>Face Dome AI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69748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Member hadapkan wajah ke Reader Face Dome AI.</a:t>
            </a:r>
            <a:endParaRPr lang="en-US" sz="1300" dirty="0"/>
          </a:p>
        </p:txBody>
      </p:sp>
      <p:pic>
        <p:nvPicPr>
          <p:cNvPr id="11" name="Image 1" descr="Pana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441448"/>
            <a:ext cx="237744" cy="237744"/>
          </a:xfrm>
          <a:prstGeom prst="rect">
            <a:avLst/>
          </a:prstGeom>
        </p:spPr>
      </p:pic>
      <p:sp>
        <p:nvSpPr>
          <p:cNvPr id="12" name="Controller"/>
          <p:cNvSpPr/>
          <p:nvPr/>
        </p:nvSpPr>
        <p:spPr>
          <a:xfrm>
            <a:off x="3383280" y="18288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3" name="Controller circle"/>
          <p:cNvSpPr/>
          <p:nvPr/>
        </p:nvSpPr>
        <p:spPr>
          <a:xfrm>
            <a:off x="3584448" y="2011680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4" name="Image 2" descr="Controll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748" y="21259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60520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6F12"/>
                </a:solidFill>
              </a:rPr>
              <a:t>LANGKAH 2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160520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40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584448" y="269748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Mengirim data ID member ke POS Server via LAN.</a:t>
            </a:r>
            <a:endParaRPr lang="en-US" sz="1300" dirty="0"/>
          </a:p>
        </p:txBody>
      </p:sp>
      <p:pic>
        <p:nvPicPr>
          <p:cNvPr id="18" name="Image 3" descr="Pana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441448"/>
            <a:ext cx="237744" cy="237744"/>
          </a:xfrm>
          <a:prstGeom prst="rect">
            <a:avLst/>
          </a:prstGeom>
        </p:spPr>
      </p:pic>
      <p:sp>
        <p:nvSpPr>
          <p:cNvPr id="19" name="Backend POS"/>
          <p:cNvSpPr/>
          <p:nvPr/>
        </p:nvSpPr>
        <p:spPr>
          <a:xfrm>
            <a:off x="6217920" y="18288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0" name="Backend POS circle"/>
          <p:cNvSpPr/>
          <p:nvPr/>
        </p:nvSpPr>
        <p:spPr>
          <a:xfrm>
            <a:off x="6419088" y="2011680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21" name="Image 4" descr="Backend PO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212598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95160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6F12"/>
                </a:solidFill>
              </a:rPr>
              <a:t>LANGKAH 3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6995160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40"/>
                </a:solidFill>
              </a:rPr>
              <a:t>Backend POS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419088" y="269748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Memeriksa status paket membership di database.</a:t>
            </a:r>
            <a:endParaRPr lang="en-US" sz="1300" dirty="0"/>
          </a:p>
        </p:txBody>
      </p:sp>
      <p:pic>
        <p:nvPicPr>
          <p:cNvPr id="25" name="Image 5" descr="Pana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441448"/>
            <a:ext cx="237744" cy="237744"/>
          </a:xfrm>
          <a:prstGeom prst="rect">
            <a:avLst/>
          </a:prstGeom>
        </p:spPr>
      </p:pic>
      <p:sp>
        <p:nvSpPr>
          <p:cNvPr id="26" name="ALLOW ➔ Gate Membuka"/>
          <p:cNvSpPr/>
          <p:nvPr/>
        </p:nvSpPr>
        <p:spPr>
          <a:xfrm>
            <a:off x="9052560" y="1828800"/>
            <a:ext cx="2590495" cy="667512"/>
          </a:xfrm>
          <a:prstGeom prst="roundRect">
            <a:avLst>
              <a:gd name="adj" fmla="val 13699"/>
            </a:avLst>
          </a:prstGeom>
          <a:solidFill>
            <a:srgbClr val="2FB38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7" name="Text 19"/>
          <p:cNvSpPr txBox="1"/>
          <p:nvPr/>
        </p:nvSpPr>
        <p:spPr>
          <a:xfrm>
            <a:off x="9217152" y="1901952"/>
            <a:ext cx="2316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ALLOW ➔ Gate Membuka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9217152" y="2194560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ACTIVE &amp; belum expired</a:t>
            </a:r>
            <a:endParaRPr lang="en-US" sz="1200" dirty="0"/>
          </a:p>
        </p:txBody>
      </p:sp>
      <p:sp>
        <p:nvSpPr>
          <p:cNvPr id="29" name="DENY ➔ Buzzer Merah"/>
          <p:cNvSpPr/>
          <p:nvPr/>
        </p:nvSpPr>
        <p:spPr>
          <a:xfrm>
            <a:off x="9052560" y="2574036"/>
            <a:ext cx="2590495" cy="667512"/>
          </a:xfrm>
          <a:prstGeom prst="roundRect">
            <a:avLst>
              <a:gd name="adj" fmla="val 13699"/>
            </a:avLst>
          </a:prstGeom>
          <a:solidFill>
            <a:srgbClr val="E5484D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9217152" y="2647188"/>
            <a:ext cx="2316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DENY ➔ Buzzer Merah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9217152" y="2939796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PENDING / CUTI / EXPIRED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ATURAN BISNIS STATUS MEMBERSHIP</a:t>
            </a:r>
            <a:endParaRPr lang="en-US" sz="1200" dirty="0"/>
          </a:p>
        </p:txBody>
      </p:sp>
      <p:sp>
        <p:nvSpPr>
          <p:cNvPr id="33" name="Menunggu Aktivasi"/>
          <p:cNvSpPr/>
          <p:nvPr/>
        </p:nvSpPr>
        <p:spPr>
          <a:xfrm>
            <a:off x="548640" y="3886200"/>
            <a:ext cx="351525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34" name="Menunggu Aktivasi circle"/>
          <p:cNvSpPr/>
          <p:nvPr/>
        </p:nvSpPr>
        <p:spPr>
          <a:xfrm>
            <a:off x="749808" y="4041648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5" name="Image 6" descr="Menunggu Aktivas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678" y="4144518"/>
            <a:ext cx="205740" cy="2057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25880" y="40416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Menunggu Aktivasi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749808" y="4526280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</a:rPr>
              <a:t>Paket dibeli sekarang, aktif mulai tanggal yang dipilih. Gate otomatis menolak jika belum masuk tanggal mulai.</a:t>
            </a:r>
            <a:endParaRPr lang="en-US" sz="1200" dirty="0"/>
          </a:p>
        </p:txBody>
      </p:sp>
      <p:sp>
        <p:nvSpPr>
          <p:cNvPr id="38" name="Masa Cuti (Freeze)"/>
          <p:cNvSpPr/>
          <p:nvPr/>
        </p:nvSpPr>
        <p:spPr>
          <a:xfrm>
            <a:off x="4338218" y="3886200"/>
            <a:ext cx="351525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39" name="Masa Cuti (Freeze) circle"/>
          <p:cNvSpPr/>
          <p:nvPr/>
        </p:nvSpPr>
        <p:spPr>
          <a:xfrm>
            <a:off x="4539386" y="4041648"/>
            <a:ext cx="411480" cy="411480"/>
          </a:xfrm>
          <a:prstGeom prst="ellipse">
            <a:avLst/>
          </a:prstGeom>
          <a:solidFill>
            <a:srgbClr val="3E8EDE"/>
          </a:solidFill>
          <a:ln/>
        </p:spPr>
      </p:sp>
      <p:pic>
        <p:nvPicPr>
          <p:cNvPr id="40" name="Image 7" descr="Masa Cuti (Freez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2256" y="4144518"/>
            <a:ext cx="205740" cy="2057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115458" y="40416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Masa Cuti (Freeze)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539386" y="4526280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</a:rPr>
              <a:t>Akses dikunci sementara selama periode cuti.</a:t>
            </a:r>
            <a:endParaRPr lang="en-US" sz="1200" dirty="0"/>
          </a:p>
        </p:txBody>
      </p:sp>
      <p:sp>
        <p:nvSpPr>
          <p:cNvPr id="43" name="Expired"/>
          <p:cNvSpPr/>
          <p:nvPr/>
        </p:nvSpPr>
        <p:spPr>
          <a:xfrm>
            <a:off x="8127797" y="3886200"/>
            <a:ext cx="351525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44" name="Expired circle"/>
          <p:cNvSpPr/>
          <p:nvPr/>
        </p:nvSpPr>
        <p:spPr>
          <a:xfrm>
            <a:off x="8328965" y="4041648"/>
            <a:ext cx="411480" cy="41148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45" name="Image 8" descr="Expir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1835" y="4144518"/>
            <a:ext cx="205740" cy="20574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905037" y="40416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Expired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328965" y="4526280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</a:rPr>
              <a:t>Gerbang terkunci dan member diarahkan ke kasir untuk perpanjangan.</a:t>
            </a:r>
            <a:endParaRPr lang="en-US" sz="1200" dirty="0"/>
          </a:p>
        </p:txBody>
      </p:sp>
      <p:sp>
        <p:nvSpPr>
          <p:cNvPr id="48" name="Override gate"/>
          <p:cNvSpPr/>
          <p:nvPr/>
        </p:nvSpPr>
        <p:spPr>
          <a:xfrm>
            <a:off x="548640" y="5321808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49" name="Text 38"/>
          <p:cNvSpPr txBox="1"/>
          <p:nvPr/>
        </p:nvSpPr>
        <p:spPr>
          <a:xfrm>
            <a:off x="822960" y="54132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63F"/>
                </a:solidFill>
              </a:rPr>
              <a:t>Fitur Tambahan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Tombol Override 'BUKA GERBANG' di Layar Kasir POS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DCE3F5"/>
                </a:solidFill>
              </a:rPr>
              <a:t>Manual oleh Kasir / Front Desk, berguna untuk:</a:t>
            </a:r>
            <a:endParaRPr lang="en-US" sz="1100" dirty="0"/>
          </a:p>
        </p:txBody>
      </p:sp>
      <p:sp>
        <p:nvSpPr>
          <p:cNvPr id="50" name="Use case 1"/>
          <p:cNvSpPr txBox="1"/>
          <p:nvPr/>
        </p:nvSpPr>
        <p:spPr>
          <a:xfrm>
            <a:off x="5212080" y="5532120"/>
            <a:ext cx="1976018" cy="640080"/>
          </a:xfrm>
          <a:prstGeom prst="roundRect">
            <a:avLst>
              <a:gd name="adj" fmla="val 14286"/>
            </a:avLst>
          </a:prstGeom>
          <a:solidFill>
            <a:srgbClr val="14244A"/>
          </a:solidFill>
          <a:ln w="12700">
            <a:solidFill>
              <a:srgbClr val="D4A63F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Tamu penting / VIP tanpa scan wajah</a:t>
            </a:r>
            <a:endParaRPr lang="en-US" sz="1200" dirty="0"/>
          </a:p>
        </p:txBody>
      </p:sp>
      <p:sp>
        <p:nvSpPr>
          <p:cNvPr id="51" name="Use case 2"/>
          <p:cNvSpPr txBox="1"/>
          <p:nvPr/>
        </p:nvSpPr>
        <p:spPr>
          <a:xfrm>
            <a:off x="7325258" y="5532120"/>
            <a:ext cx="1976018" cy="640080"/>
          </a:xfrm>
          <a:prstGeom prst="roundRect">
            <a:avLst>
              <a:gd name="adj" fmla="val 14286"/>
            </a:avLst>
          </a:prstGeom>
          <a:solidFill>
            <a:srgbClr val="14244A"/>
          </a:solidFill>
          <a:ln w="12700">
            <a:solidFill>
              <a:srgbClr val="D4A63F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Daily Pass atau trial sesi pertama</a:t>
            </a:r>
            <a:endParaRPr lang="en-US" sz="1200" dirty="0"/>
          </a:p>
        </p:txBody>
      </p:sp>
      <p:sp>
        <p:nvSpPr>
          <p:cNvPr id="52" name="Use case 3"/>
          <p:cNvSpPr txBox="1"/>
          <p:nvPr/>
        </p:nvSpPr>
        <p:spPr>
          <a:xfrm>
            <a:off x="9438437" y="5532120"/>
            <a:ext cx="1976018" cy="640080"/>
          </a:xfrm>
          <a:prstGeom prst="roundRect">
            <a:avLst>
              <a:gd name="adj" fmla="val 14286"/>
            </a:avLst>
          </a:prstGeom>
          <a:solidFill>
            <a:srgbClr val="14244A"/>
          </a:solidFill>
          <a:ln w="12700">
            <a:solidFill>
              <a:srgbClr val="D4A63F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Teknisi / vendor bawa peralatan besar</a:t>
            </a:r>
            <a:endParaRPr lang="en-US" sz="12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MEMBER JOURNEY EXPERIENCE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Visualisasi Alur Pengalaman Member Baru</a:t>
            </a:r>
            <a:endParaRPr lang="en-US" sz="3200" dirty="0"/>
          </a:p>
        </p:txBody>
      </p:sp>
      <p:sp>
        <p:nvSpPr>
          <p:cNvPr id="4" name="Langkah 1"/>
          <p:cNvSpPr/>
          <p:nvPr/>
        </p:nvSpPr>
        <p:spPr>
          <a:xfrm>
            <a:off x="548640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5" name="Image 0" descr="Konsultasi Front Des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3515258" cy="2606040"/>
          </a:xfrm>
          <a:prstGeom prst="rect">
            <a:avLst/>
          </a:prstGeom>
        </p:spPr>
      </p:pic>
      <p:sp>
        <p:nvSpPr>
          <p:cNvPr id="6" name="Number 1"/>
          <p:cNvSpPr txBox="1"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4988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</a:rPr>
              <a:t>Konsultasi Front Desk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937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Calon member disambut ramah oleh staf front desk di meja resepsionis berdesain mewah. Staf memaparkan katalog paket gym, kelas studio, dan program personal trainer.</a:t>
            </a:r>
            <a:endParaRPr lang="en-US" sz="1300" dirty="0"/>
          </a:p>
        </p:txBody>
      </p:sp>
      <p:pic>
        <p:nvPicPr>
          <p:cNvPr id="9" name="Image 1" descr="Berikutn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330" y="2674620"/>
            <a:ext cx="219456" cy="274320"/>
          </a:xfrm>
          <a:prstGeom prst="rect">
            <a:avLst/>
          </a:prstGeom>
        </p:spPr>
      </p:pic>
      <p:sp>
        <p:nvSpPr>
          <p:cNvPr id="10" name="Langkah 2"/>
          <p:cNvSpPr/>
          <p:nvPr/>
        </p:nvSpPr>
        <p:spPr>
          <a:xfrm>
            <a:off x="4338218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11" name="Image 2" descr="Input POS &amp; Cetak Nota A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8218" y="1508760"/>
            <a:ext cx="3515258" cy="2606040"/>
          </a:xfrm>
          <a:prstGeom prst="rect">
            <a:avLst/>
          </a:prstGeom>
        </p:spPr>
      </p:pic>
      <p:sp>
        <p:nvSpPr>
          <p:cNvPr id="12" name="Number 2"/>
          <p:cNvSpPr txBox="1"/>
          <p:nvPr/>
        </p:nvSpPr>
        <p:spPr>
          <a:xfrm>
            <a:off x="4566818" y="3840480"/>
            <a:ext cx="548640" cy="548640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612538" y="44988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</a:rPr>
              <a:t>Input POS &amp; Cetak Nota A4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612538" y="4937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Staf menginput data identitas &amp; foto wajah member ke sistem POS. Pembayaran lunas tercatat (Tunai/QRIS/Transfer), dan nota resmi berlogo &amp; cap lunas langsung dicetak.</a:t>
            </a:r>
            <a:endParaRPr lang="en-US" sz="1300" dirty="0"/>
          </a:p>
        </p:txBody>
      </p:sp>
      <p:pic>
        <p:nvPicPr>
          <p:cNvPr id="15" name="Image 3" descr="Berikutn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909" y="2674620"/>
            <a:ext cx="219456" cy="274320"/>
          </a:xfrm>
          <a:prstGeom prst="rect">
            <a:avLst/>
          </a:prstGeom>
        </p:spPr>
      </p:pic>
      <p:sp>
        <p:nvSpPr>
          <p:cNvPr id="16" name="Langkah 3"/>
          <p:cNvSpPr/>
          <p:nvPr/>
        </p:nvSpPr>
        <p:spPr>
          <a:xfrm>
            <a:off x="8127797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17" name="Image 4" descr="Akses Gate Masuk Fasilita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7797" y="1508760"/>
            <a:ext cx="3515258" cy="2606040"/>
          </a:xfrm>
          <a:prstGeom prst="rect">
            <a:avLst/>
          </a:prstGeom>
        </p:spPr>
      </p:pic>
      <p:sp>
        <p:nvSpPr>
          <p:cNvPr id="18" name="Number 3"/>
          <p:cNvSpPr txBox="1"/>
          <p:nvPr/>
        </p:nvSpPr>
        <p:spPr>
          <a:xfrm>
            <a:off x="8356397" y="3840480"/>
            <a:ext cx="548640" cy="548640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8402117" y="44988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</a:rPr>
              <a:t>Akses Gate Masuk Fasilitas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402117" y="4937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Member melangkah ke Swing Barrier Gate. Face Dome AI mengenali wajah aktif dalam ≤ 0.4 detik, lampu indikator hijau, gerbang terbuka, dan member siap latihan!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63F"/>
                </a:solidFill>
              </a:rPr>
              <a:t>TEKNOLOGI &amp; KEMUDAHAN BISNIS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Ekosistem Layanan &amp; Operasional Terpadu</a:t>
            </a:r>
            <a:endParaRPr lang="en-US" sz="3200" dirty="0"/>
          </a:p>
        </p:txBody>
      </p:sp>
      <p:pic>
        <p:nvPicPr>
          <p:cNvPr id="4" name="Image 0" descr="Booking Studio via H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3515258" cy="4709160"/>
          </a:xfrm>
          <a:prstGeom prst="rect">
            <a:avLst/>
          </a:prstGeom>
        </p:spPr>
      </p:pic>
      <p:sp>
        <p:nvSpPr>
          <p:cNvPr id="5" name="Overlay 1"/>
          <p:cNvSpPr/>
          <p:nvPr/>
        </p:nvSpPr>
        <p:spPr>
          <a:xfrm>
            <a:off x="548640" y="3931920"/>
            <a:ext cx="3515258" cy="2286000"/>
          </a:xfrm>
          <a:prstGeom prst="rect">
            <a:avLst/>
          </a:prstGeom>
          <a:solidFill>
            <a:srgbClr val="0B1530"/>
          </a:solidFill>
          <a:ln/>
        </p:spPr>
      </p:sp>
      <p:sp>
        <p:nvSpPr>
          <p:cNvPr id="6" name="Booking Studio via HP circle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7" name="Image 1" descr="Booking Studio via H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2748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416052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Booking Studio via HP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7548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Member booking kelas Yoga, Zumba, atau Muay Thai mandiri lewat portal smartphone tanpa antre di kasir. Kuota slot kelas terpantau real-time.</a:t>
            </a:r>
            <a:endParaRPr lang="en-US" sz="1300" dirty="0"/>
          </a:p>
        </p:txBody>
      </p:sp>
      <p:pic>
        <p:nvPicPr>
          <p:cNvPr id="10" name="Image 2" descr="Presensi Selfie + GPS Staf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8218" y="1508760"/>
            <a:ext cx="3515258" cy="4709160"/>
          </a:xfrm>
          <a:prstGeom prst="rect">
            <a:avLst/>
          </a:prstGeom>
        </p:spPr>
      </p:pic>
      <p:sp>
        <p:nvSpPr>
          <p:cNvPr id="11" name="Overlay 2"/>
          <p:cNvSpPr/>
          <p:nvPr/>
        </p:nvSpPr>
        <p:spPr>
          <a:xfrm>
            <a:off x="4338218" y="3931920"/>
            <a:ext cx="3515258" cy="2286000"/>
          </a:xfrm>
          <a:prstGeom prst="rect">
            <a:avLst/>
          </a:prstGeom>
          <a:solidFill>
            <a:srgbClr val="0B1530"/>
          </a:solidFill>
          <a:ln/>
        </p:spPr>
      </p:sp>
      <p:sp>
        <p:nvSpPr>
          <p:cNvPr id="12" name="Presensi Selfie + GPS Staf circle"/>
          <p:cNvSpPr/>
          <p:nvPr/>
        </p:nvSpPr>
        <p:spPr>
          <a:xfrm>
            <a:off x="4612538" y="416052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13" name="Image 3" descr="Presensi Selfie + GPS Sta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838" y="42748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06898" y="416052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Presensi Selfie + GPS Staf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612538" y="47548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Staf &amp; coach wajib clock-in foto selfie dengan validasi radius lokasi gym (Jl. Patimura No.84 Pontianak). Mencegah praktik titip absen &amp; fake GPS.</a:t>
            </a:r>
            <a:endParaRPr lang="en-US" sz="1300" dirty="0"/>
          </a:p>
        </p:txBody>
      </p:sp>
      <p:pic>
        <p:nvPicPr>
          <p:cNvPr id="16" name="Image 4" descr="Owner Remote Dashboard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27797" y="1508760"/>
            <a:ext cx="3515258" cy="4709160"/>
          </a:xfrm>
          <a:prstGeom prst="rect">
            <a:avLst/>
          </a:prstGeom>
        </p:spPr>
      </p:pic>
      <p:sp>
        <p:nvSpPr>
          <p:cNvPr id="17" name="Overlay 3"/>
          <p:cNvSpPr/>
          <p:nvPr/>
        </p:nvSpPr>
        <p:spPr>
          <a:xfrm>
            <a:off x="8127797" y="3931920"/>
            <a:ext cx="3515258" cy="2286000"/>
          </a:xfrm>
          <a:prstGeom prst="rect">
            <a:avLst/>
          </a:prstGeom>
          <a:solidFill>
            <a:srgbClr val="0B1530"/>
          </a:solidFill>
          <a:ln/>
        </p:spPr>
      </p:sp>
      <p:sp>
        <p:nvSpPr>
          <p:cNvPr id="18" name="Owner Remote Dashboard circle"/>
          <p:cNvSpPr/>
          <p:nvPr/>
        </p:nvSpPr>
        <p:spPr>
          <a:xfrm>
            <a:off x="8402117" y="416052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19" name="Image 5" descr="Owner Remote Dashboar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6417" y="427482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996477" y="416052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Owner Remote Dashboard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8402117" y="47548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Pantau omset harian live (Rp 48.720.000), 312 pengunjung aktif, dan status gate online langsung dari iPad, di mana saja.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9AC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FITUR SOFTWARE POS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Sistem POS: Kasir, Billing &amp; Shift Kas Kecil</a:t>
            </a:r>
            <a:endParaRPr lang="en-US" sz="3200" dirty="0"/>
          </a:p>
        </p:txBody>
      </p:sp>
      <p:sp>
        <p:nvSpPr>
          <p:cNvPr id="4" name="Katalog Produk &amp; Paket"/>
          <p:cNvSpPr/>
          <p:nvPr/>
        </p:nvSpPr>
        <p:spPr>
          <a:xfrm>
            <a:off x="548640" y="1508760"/>
            <a:ext cx="351525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Katalog Produk &amp; Paket circle"/>
          <p:cNvSpPr/>
          <p:nvPr/>
        </p:nvSpPr>
        <p:spPr>
          <a:xfrm>
            <a:off x="777240" y="1709928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6" name="Image 0" descr="Katalog Produk &amp; Pa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2422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0992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Katalog Produk &amp; Paket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30123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Membership Reguler, Studio, VIP, Student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Tiket Masuk Harian (Daily Pass)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Paket Personal Trainer (12/24 sesi)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Retail F&amp;B, Suplemen Whey, Air Mineral</a:t>
            </a:r>
            <a:endParaRPr lang="en-US" sz="1400" dirty="0"/>
          </a:p>
        </p:txBody>
      </p:sp>
      <p:sp>
        <p:nvSpPr>
          <p:cNvPr id="9" name="Metode Pembayaran Lengkap"/>
          <p:cNvSpPr/>
          <p:nvPr/>
        </p:nvSpPr>
        <p:spPr>
          <a:xfrm>
            <a:off x="4338218" y="1508760"/>
            <a:ext cx="351525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0" name="Metode Pembayaran Lengkap circle"/>
          <p:cNvSpPr/>
          <p:nvPr/>
        </p:nvSpPr>
        <p:spPr>
          <a:xfrm>
            <a:off x="4566818" y="1709928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1" name="Image 1" descr="Metode Pembayaran Lengk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118" y="182422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1178" y="170992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Metode Pembayaran Lengkap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331720"/>
            <a:ext cx="30123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Pembayaran Tunai (Cash)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QRIS Statis / Dinamis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Transfer Bank (BCA, Mandiri, dll)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Split Payment (sebagian tunai + sebagian transfer)</a:t>
            </a:r>
            <a:endParaRPr lang="en-US" sz="1400" dirty="0"/>
          </a:p>
        </p:txBody>
      </p:sp>
      <p:sp>
        <p:nvSpPr>
          <p:cNvPr id="14" name="Cetak Nota Resmi Standar A4"/>
          <p:cNvSpPr/>
          <p:nvPr/>
        </p:nvSpPr>
        <p:spPr>
          <a:xfrm>
            <a:off x="8127797" y="1508760"/>
            <a:ext cx="351525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5" name="Cetak Nota Resmi Standar A4 circle"/>
          <p:cNvSpPr/>
          <p:nvPr/>
        </p:nvSpPr>
        <p:spPr>
          <a:xfrm>
            <a:off x="8356397" y="1709928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6" name="Image 2" descr="Cetak Nota Resmi Standar A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697" y="182422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50757" y="170992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Cetak Nota Resmi Standar A4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331720"/>
            <a:ext cx="30123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Format nota A4 standar profesional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Dilengkapi Logo Resmi Kaisar Gym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Alamat lengkap Jl. Patimura No.84 Pontianak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Cap Stempel 'LUNAS' otomatis</a:t>
            </a:r>
            <a:endParaRPr lang="en-US" sz="1400" dirty="0"/>
          </a:p>
        </p:txBody>
      </p:sp>
      <p:sp>
        <p:nvSpPr>
          <p:cNvPr id="19" name="SOP Buka-Tutup Shift Kasir"/>
          <p:cNvSpPr/>
          <p:nvPr/>
        </p:nvSpPr>
        <p:spPr>
          <a:xfrm>
            <a:off x="548640" y="4389120"/>
            <a:ext cx="5410048" cy="1828800"/>
          </a:xfrm>
          <a:prstGeom prst="roundRect">
            <a:avLst>
              <a:gd name="adj" fmla="val 60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0" name="SOP Buka-Tutup Shift Kasir circle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21" name="Image 3" descr="SOP Buka-Tutup Shift Kasi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6863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57200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SOP Buka-Tutup Shift Kasir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1663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3F5"/>
                </a:solidFill>
              </a:rPr>
              <a:t>Setiap pergantian kasir wajib input saldo modal laci di awal shift. Di akhir shift, kasir memasukkan jumlah uang fisik riil. Sistem otomatis menghitung ada/tidaknya selisih kas demi akuntabilitas 100%.</a:t>
            </a:r>
            <a:endParaRPr lang="en-US" sz="1400" dirty="0"/>
          </a:p>
        </p:txBody>
      </p:sp>
      <p:sp>
        <p:nvSpPr>
          <p:cNvPr id="24" name="Laporan Finansial Real-Time untuk Owner"/>
          <p:cNvSpPr/>
          <p:nvPr/>
        </p:nvSpPr>
        <p:spPr>
          <a:xfrm>
            <a:off x="6233008" y="4389120"/>
            <a:ext cx="5410048" cy="1828800"/>
          </a:xfrm>
          <a:prstGeom prst="roundRect">
            <a:avLst>
              <a:gd name="adj" fmla="val 60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5" name="Laporan Finansial Real-Time untuk Owner circle"/>
          <p:cNvSpPr/>
          <p:nvPr/>
        </p:nvSpPr>
        <p:spPr>
          <a:xfrm>
            <a:off x="6507328" y="457200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26" name="Image 4" descr="Laporan Finansial Real-Time untuk Own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628" y="46863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01688" y="457200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Laporan Finansial Real-Time untuk Owner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507328" y="51663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3F5"/>
                </a:solidFill>
              </a:rPr>
              <a:t>Owner dapat memantau omset harian, mingguan, dan bulanan langsung dari smartphone atau laptop kapan saja, tanpa harus menunggu laporan bulanan manual staf.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FITUR SOFTWARE POS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CRM Member, Kelas Studio &amp; Personal Trainer</a:t>
            </a:r>
            <a:endParaRPr lang="en-US" sz="3200" dirty="0"/>
          </a:p>
        </p:txBody>
      </p:sp>
      <p:sp>
        <p:nvSpPr>
          <p:cNvPr id="4" name="CRM &amp; Keanggotaan"/>
          <p:cNvSpPr/>
          <p:nvPr/>
        </p:nvSpPr>
        <p:spPr>
          <a:xfrm>
            <a:off x="548640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CRM &amp; Keanggotaan circl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6" name="Image 0" descr="CRM &amp; Keanggota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540"/>
                </a:solidFill>
              </a:rPr>
              <a:t>CRM &amp; Keanggotaan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Pendaftaran member baru cepat dengan upload foto KTP dan foto wajah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Pencatatan nomor plat kendaraan untuk hak akses parkir member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Broadcast WhatsApp otomatis: pengingat masa aktif habis H-7 dan H-3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Pengelolaan masa cuti member resmi berjangka waktu</a:t>
            </a:r>
            <a:endParaRPr lang="en-US" sz="1500" dirty="0"/>
          </a:p>
        </p:txBody>
      </p:sp>
      <p:sp>
        <p:nvSpPr>
          <p:cNvPr id="9" name="Studio Classes"/>
          <p:cNvSpPr/>
          <p:nvPr/>
        </p:nvSpPr>
        <p:spPr>
          <a:xfrm>
            <a:off x="4338218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0" name="Studio Classes circle"/>
          <p:cNvSpPr/>
          <p:nvPr/>
        </p:nvSpPr>
        <p:spPr>
          <a:xfrm>
            <a:off x="4612538" y="1783080"/>
            <a:ext cx="640080" cy="64008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1" name="Image 1" descr="Studio Class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558" y="19431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1783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540"/>
                </a:solidFill>
              </a:rPr>
              <a:t>Studio Classes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9748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Penjadwalan kelas studio (Yoga, Zumba, Spinning, Aerobic, Muay Thai)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Batasan kuota peserta kelas untuk kenyamanan studio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Booking mandiri oleh member melalui web portal smartphone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Laporan keterisian kelas untuk evaluasi jadwal terpopuler</a:t>
            </a:r>
            <a:endParaRPr lang="en-US" sz="1500" dirty="0"/>
          </a:p>
        </p:txBody>
      </p:sp>
      <p:sp>
        <p:nvSpPr>
          <p:cNvPr id="14" name="Personal Trainer (PT)"/>
          <p:cNvSpPr/>
          <p:nvPr/>
        </p:nvSpPr>
        <p:spPr>
          <a:xfrm>
            <a:off x="8127797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5" name="Personal Trainer (PT) circle"/>
          <p:cNvSpPr/>
          <p:nvPr/>
        </p:nvSpPr>
        <p:spPr>
          <a:xfrm>
            <a:off x="8402117" y="1783080"/>
            <a:ext cx="640080" cy="64008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6" name="Image 2" descr="Personal Trainer (P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137" y="19431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1783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540"/>
                </a:solidFill>
              </a:rPr>
              <a:t>Personal Trainer (PT)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9748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Pembelian kontrak sesi PT (12, 24, atau 36 sesi)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Input eksekusi sesi latihan oleh coach setelah selesai melatih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Pengurangan kuota sesi otomatis dan transparan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Rekap sesi selesai untuk perhitungan komisi trainer yang adil dan akurat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TATA KELOLA OPERASIONAL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SOP &amp; Matriks Hak Akses (RBAC 7 Roles)</a:t>
            </a:r>
            <a:endParaRPr lang="en-US" sz="3200" dirty="0"/>
          </a:p>
        </p:txBody>
      </p:sp>
      <p:graphicFrame>
        <p:nvGraphicFramePr>
          <p:cNvPr id="12" name="Tabel RBA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4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Pemegang Peran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Hak Akses / Wewenang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Kewajiban SOP Harian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6F12"/>
                          </a:solidFill>
                        </a:rPr>
                        <a:t>SUPER_ADMIN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</a:rPr>
                        <a:t>Owner Kaisar Gym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Akses penuh laporan omset, master harga paket, audit transaksi &amp; kelola akun staf.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Review omset harian &amp; bulanan, approval kebijakan promo dan ekspansi.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6F12"/>
                          </a:solidFill>
                        </a:rPr>
                        <a:t>OPS_MANAGER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</a:rPr>
                        <a:t>Manajer Operasional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Akses operasional cabang, approval cuti member, audit shift kasir, buka gate darurat.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Verifikasi setoran kas harian kasir, analisis kepadatan gerbang &amp; stok opname retail.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6F12"/>
                          </a:solidFill>
                        </a:rPr>
                        <a:t>CASHIER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</a:rPr>
                        <a:t>Front Desk / Resepsionis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Transaksi POS, registrasi member baru, cetak nota A4, buka shift &amp; tutup shift kasir.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Hitung modal awal laci, foto wajah member saat daftar, rekonsiliasi uang fisik saat tutup shift.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6F12"/>
                          </a:solidFill>
                        </a:rPr>
                        <a:t>TRAINER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</a:rPr>
                        <a:t>Coach / Personal Trainer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Melihat jadwal sesi PT, input log latihan selesai, cek rekapitulasi komisi sesi.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Presensi selfie GPS di area gym, input materi latihan &amp; konfirmasi pemakaian sesi member.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63F"/>
                </a:solidFill>
              </a:rPr>
              <a:t>PENUTUP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Kesimpulan &amp; Nilai Strategis bagi Kaisar Gym</a:t>
            </a:r>
            <a:endParaRPr lang="en-US" sz="3200" dirty="0"/>
          </a:p>
        </p:txBody>
      </p:sp>
      <p:sp>
        <p:nvSpPr>
          <p:cNvPr id="4" name="Proteksi Finansial 100%"/>
          <p:cNvSpPr/>
          <p:nvPr/>
        </p:nvSpPr>
        <p:spPr>
          <a:xfrm>
            <a:off x="548640" y="15544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82880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Proteksi Finansial 100%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5176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Menutup total peluang member tak bertiket masuk latihan dan memastikan setiap rupiah tercatat di POS.</a:t>
            </a:r>
            <a:endParaRPr lang="en-US" sz="1500" dirty="0"/>
          </a:p>
        </p:txBody>
      </p:sp>
      <p:sp>
        <p:nvSpPr>
          <p:cNvPr id="8" name="Standar Mega-Gym Modern"/>
          <p:cNvSpPr/>
          <p:nvPr/>
        </p:nvSpPr>
        <p:spPr>
          <a:xfrm>
            <a:off x="6233008" y="15544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513168" y="182880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Standar Mega-Gym Modern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265176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Teknologi Swing Barrier SUS304 + Face Dome AI menghadirkan pengalaman kelas atas yang membanggakan bagi seluruh member.</a:t>
            </a:r>
            <a:endParaRPr lang="en-US" sz="1500" dirty="0"/>
          </a:p>
        </p:txBody>
      </p:sp>
      <p:sp>
        <p:nvSpPr>
          <p:cNvPr id="12" name="Efisiensi Kerja &amp; Akuntabilitas Staf"/>
          <p:cNvSpPr/>
          <p:nvPr/>
        </p:nvSpPr>
        <p:spPr>
          <a:xfrm>
            <a:off x="548640" y="388620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16052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Efisiensi Kerja &amp; Akuntabilitas Staf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834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SOP shift kasir, absensi selfie GPS karyawan, dan pembagian peran RBAC mencegah manipulasi internal.</a:t>
            </a:r>
            <a:endParaRPr lang="en-US" sz="1500" dirty="0"/>
          </a:p>
        </p:txBody>
      </p:sp>
      <p:sp>
        <p:nvSpPr>
          <p:cNvPr id="16" name="Kesiapan Penuh Eksekusi"/>
          <p:cNvSpPr/>
          <p:nvPr/>
        </p:nvSpPr>
        <p:spPr>
          <a:xfrm>
            <a:off x="6233008" y="388620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513168" y="416052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Kesiapan Penuh Eksekusi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98768" y="49834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Tim Zag Digital Indonesia siap memimpin eksekusi fisik hingga integrasi software dalam 5 hari kerja tanpa mengganggu operasional gym.</a:t>
            </a:r>
            <a:endParaRPr lang="en-US" sz="1500" dirty="0"/>
          </a:p>
        </p:txBody>
      </p:sp>
      <p:pic>
        <p:nvPicPr>
          <p:cNvPr id="20" name="Image 0" descr="Logo Zag Digital Indones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327648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9AC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isar Gym">
  <a:themeElements>
    <a:clrScheme name="Kaisar Gym">
      <a:dk1>
        <a:srgbClr val="0B1530"/>
      </a:dk1>
      <a:lt1>
        <a:srgbClr val="FFFFFF"/>
      </a:lt1>
      <a:dk2>
        <a:srgbClr val="14244A"/>
      </a:dk2>
      <a:lt2>
        <a:srgbClr val="F3F5F9"/>
      </a:lt2>
      <a:accent1>
        <a:srgbClr val="D4A63F"/>
      </a:accent1>
      <a:accent2>
        <a:srgbClr val="1F3A6E"/>
      </a:accent2>
      <a:accent3>
        <a:srgbClr val="E5484D"/>
      </a:accent3>
      <a:accent4>
        <a:srgbClr val="2FB380"/>
      </a:accent4>
      <a:accent5>
        <a:srgbClr val="6B7A99"/>
      </a:accent5>
      <a:accent6>
        <a:srgbClr val="F0D28A"/>
      </a:accent6>
      <a:hlink>
        <a:srgbClr val="1F3A6E"/>
      </a:hlink>
      <a:folHlink>
        <a:srgbClr val="6B7A99"/>
      </a:folHlink>
    </a:clrScheme>
    <a:fontScheme name="Kaisar Gy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</Words>
  <Application>Microsoft Office PowerPoint</Application>
  <PresentationFormat>Widescreen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Kaisar Gym</vt:lpstr>
      <vt:lpstr>PowerPoint Presentation</vt:lpstr>
      <vt:lpstr>Mengapa Kaisar Gym Perlu Bertransformasi?</vt:lpstr>
      <vt:lpstr>Rincian Pengadaan Hardware &amp; Pemasangan</vt:lpstr>
      <vt:lpstr>Rincian Pengadaan Hardware &amp; Pemasangan</vt:lpstr>
      <vt:lpstr>Konsep Gerbang: 1-Channel Bidirectional</vt:lpstr>
      <vt:lpstr>Arsitektur Komunikasi API: Gate ↔ POS</vt:lpstr>
      <vt:lpstr>Visualisasi Alur Pengalaman Member Baru</vt:lpstr>
      <vt:lpstr>Ekosistem Layanan &amp; Operasional Terpadu</vt:lpstr>
      <vt:lpstr>Sistem POS: Kasir, Billing &amp; Shift Kas Kecil</vt:lpstr>
      <vt:lpstr>CRM Member, Kelas Studio &amp; Personal Trainer</vt:lpstr>
      <vt:lpstr>SOP &amp; Matriks Hak Akses (RBAC 7 Roles)</vt:lpstr>
      <vt:lpstr>Kesimpulan &amp; Nilai Strategis bagi Kaisar Gym</vt:lpstr>
    </vt:vector>
  </TitlesOfParts>
  <Company>Zag Digital Indonesia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Implementasi Gate dan POS Kaisar Gym</dc:title>
  <dc:subject>PptxGenJS Presentation</dc:subject>
  <dc:creator>Zag Digital Indonesia</dc:creator>
  <cp:lastModifiedBy>nahel zag</cp:lastModifiedBy>
  <cp:revision>2</cp:revision>
  <dcterms:created xsi:type="dcterms:W3CDTF">2026-10-21T06:49:26Z</dcterms:created>
  <dcterms:modified xsi:type="dcterms:W3CDTF">2026-10-21T07:23:54Z</dcterms:modified>
</cp:coreProperties>
</file>