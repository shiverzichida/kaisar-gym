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7815722B-85EB-0277-E444-A15A9C936B11}">
          <p14:sldIdLst>
            <p14:sldId id="256"/>
          </p14:sldIdLst>
        </p14:section>
        <p14:section name="Business Value" id="{E74B256B-5B54-4B32-B7F3-96C6FB778573}">
          <p14:sldIdLst>
            <p14:sldId id="257"/>
          </p14:sldIdLst>
        </p14:section>
        <p14:section name="Investasi" id="{E3A5F1F2-1403-34F3-4337-9CD639E1B4BD}">
          <p14:sldIdLst>
            <p14:sldId id="258"/>
            <p14:sldId id="259"/>
          </p14:sldIdLst>
        </p14:section>
        <p14:section name="Desain" id="{3FE68AC4-CACA-98AC-719A-417DC51D0065}">
          <p14:sldIdLst>
            <p14:sldId id="260"/>
          </p14:sldIdLst>
        </p14:section>
        <p14:section name="Integrasi" id="{671D274B-C677-7981-4755-58D924DD9A68}">
          <p14:sldIdLst>
            <p14:sldId id="261"/>
          </p14:sldIdLst>
        </p14:section>
        <p14:section name="Pengalaman Member" id="{B14B339A-5EF5-DBCC-B56B-290D614D5468}">
          <p14:sldIdLst>
            <p14:sldId id="262"/>
            <p14:sldId id="263"/>
          </p14:sldIdLst>
        </p14:section>
        <p14:section name="Fitur POS" id="{BCFC7174-7B36-8156-2854-E9738C70F477}">
          <p14:sldIdLst>
            <p14:sldId id="264"/>
            <p14:sldId id="265"/>
          </p14:sldIdLst>
        </p14:section>
        <p14:section name="Tata Kelola" id="{D87341D9-C652-F834-1045-13D7F501C54C}">
          <p14:sldIdLst>
            <p14:sldId id="266"/>
          </p14:sldIdLst>
        </p14:section>
        <p14:section name="Penutup" id="{21A598BD-A062-497B-C6C3-6AD401F248D4}">
          <p14:sldIdLst>
            <p14:sldId id="267"/>
          </p14:sldIdLst>
        </p14:section>
        <p14:section name="Penawaran Sistem" id="{8E9044D0-3DD3-C0FD-2764-632DABA6551D}">
          <p14:sldIdLst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949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5B6785"/>
                </a:solidFill>
              </a:rPr>
              <a:t>KAISAR GYM × ZAG DIGITAL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300" dirty="0">
                <a:solidFill>
                  <a:srgbClr val="9A6F12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0B1530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C9AC0"/>
                </a:solidFill>
              </a:rPr>
              <a:t>KAISAR GYM × ZAG DIGITAL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300" dirty="0">
                <a:solidFill>
                  <a:srgbClr val="D4A63F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C9AC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g"/><Relationship Id="rId5" Type="http://schemas.openxmlformats.org/officeDocument/2006/relationships/image" Target="../media/image24.jp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jpg"/><Relationship Id="rId7" Type="http://schemas.openxmlformats.org/officeDocument/2006/relationships/image" Target="../media/image2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jp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ember melewati swing barrier gat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49440" y="0"/>
            <a:ext cx="5242255" cy="6858000"/>
          </a:xfrm>
          <a:prstGeom prst="rect">
            <a:avLst/>
          </a:prstGeom>
        </p:spPr>
      </p:pic>
      <p:sp>
        <p:nvSpPr>
          <p:cNvPr id="3" name="Photo tint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0B1530">
              <a:alpha val="45000"/>
            </a:srgbClr>
          </a:solidFill>
          <a:ln/>
        </p:spPr>
      </p:sp>
      <p:pic>
        <p:nvPicPr>
          <p:cNvPr id="4" name="Image 1" descr="Logo Kaisar Gy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0080"/>
            <a:ext cx="960120" cy="960120"/>
          </a:xfrm>
          <a:prstGeom prst="ellipse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645920" y="8686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D4A63F"/>
                </a:solidFill>
              </a:rPr>
              <a:t>×</a:t>
            </a:r>
            <a:endParaRPr lang="en-US" sz="2400" dirty="0"/>
          </a:p>
        </p:txBody>
      </p:sp>
      <p:pic>
        <p:nvPicPr>
          <p:cNvPr id="6" name="Image 2" descr="Logo Zag Digital Indonesi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8840" y="640080"/>
            <a:ext cx="960120" cy="96012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23317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4A63F"/>
                </a:solidFill>
              </a:rPr>
              <a:t>PROPOSAL MASTER &amp; ROADMAP IMPLEMENTASI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2743200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Modernisasi Gerbang Akses Swing Barrier Gate &amp; Sistem Enterprise Gym Management POS</a:t>
            </a:r>
            <a:endParaRPr lang="en-US" sz="32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48006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5CEE6"/>
                </a:solidFill>
              </a:rPr>
              <a:t>Integrasi Biometrik Face Recognition AI, Dual-Direction Gate, dan Point of Sale Terpadu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56692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C9AC0"/>
                </a:solidFill>
              </a:rPr>
              <a:t>Disusun oleh: </a:t>
            </a:r>
            <a:r>
              <a:rPr lang="en-US" sz="1400" b="1" dirty="0">
                <a:solidFill>
                  <a:srgbClr val="FFFFFF"/>
                </a:solidFill>
              </a:rPr>
              <a:t>Zag Digital Indonesia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8C9AC0"/>
                </a:solidFill>
              </a:rPr>
              <a:t>Untuk: </a:t>
            </a:r>
            <a:r>
              <a:rPr lang="en-US" sz="1400" b="1" dirty="0">
                <a:solidFill>
                  <a:srgbClr val="FFFFFF"/>
                </a:solidFill>
              </a:rPr>
              <a:t>Owner &amp; Manajemen Kaisar Gym Pontianak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6F12"/>
                </a:solidFill>
              </a:rPr>
              <a:t>BUSINESS VALUE &amp; ROI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530"/>
                </a:solidFill>
              </a:rPr>
              <a:t>Mengapa Kaisar Gym Perlu Bertransformasi?</a:t>
            </a:r>
            <a:endParaRPr lang="en-US" sz="3200" dirty="0"/>
          </a:p>
        </p:txBody>
      </p:sp>
      <p:sp>
        <p:nvSpPr>
          <p:cNvPr id="4" name="Masalah 1"/>
          <p:cNvSpPr/>
          <p:nvPr/>
        </p:nvSpPr>
        <p:spPr>
          <a:xfrm>
            <a:off x="548640" y="1508760"/>
            <a:ext cx="351525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5" name="Masalah circle"/>
          <p:cNvSpPr/>
          <p:nvPr/>
        </p:nvSpPr>
        <p:spPr>
          <a:xfrm>
            <a:off x="777240" y="1719072"/>
            <a:ext cx="502920" cy="502920"/>
          </a:xfrm>
          <a:prstGeom prst="ellipse">
            <a:avLst/>
          </a:prstGeom>
          <a:solidFill>
            <a:srgbClr val="FDE8E9"/>
          </a:solidFill>
          <a:ln/>
        </p:spPr>
      </p:sp>
      <p:pic>
        <p:nvPicPr>
          <p:cNvPr id="6" name="Image 0" descr="Masala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" y="1844802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19072"/>
            <a:ext cx="2463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540"/>
                </a:solidFill>
              </a:rPr>
              <a:t>Kebocoran Member Ilegal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301233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Member numpang teman saat jam ramai.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Member expired tetap bebas latihan tanpa ketahuan kasir.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Potensi kehilangan omset hingga puluhan juta per bulan.</a:t>
            </a:r>
            <a:endParaRPr lang="en-US" sz="1400" dirty="0"/>
          </a:p>
        </p:txBody>
      </p:sp>
      <p:sp>
        <p:nvSpPr>
          <p:cNvPr id="9" name="Solusi 1"/>
          <p:cNvSpPr/>
          <p:nvPr/>
        </p:nvSpPr>
        <p:spPr>
          <a:xfrm>
            <a:off x="548640" y="4343400"/>
            <a:ext cx="3515258" cy="1874520"/>
          </a:xfrm>
          <a:prstGeom prst="roundRect">
            <a:avLst>
              <a:gd name="adj" fmla="val 5854"/>
            </a:avLst>
          </a:prstGeom>
          <a:solidFill>
            <a:srgbClr val="0B1530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0" name="Menuju solusi circle"/>
          <p:cNvSpPr/>
          <p:nvPr/>
        </p:nvSpPr>
        <p:spPr>
          <a:xfrm>
            <a:off x="2105101" y="4041648"/>
            <a:ext cx="402336" cy="402336"/>
          </a:xfrm>
          <a:prstGeom prst="ellipse">
            <a:avLst/>
          </a:prstGeom>
          <a:solidFill>
            <a:srgbClr val="2FB380"/>
          </a:solidFill>
          <a:ln/>
        </p:spPr>
      </p:sp>
      <p:pic>
        <p:nvPicPr>
          <p:cNvPr id="11" name="Image 1" descr="Menuju solus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5685" y="4142232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22960" y="45262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4A63F"/>
                </a:solidFill>
              </a:rPr>
              <a:t>Solusi: Zero Illegal Access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507492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3F5"/>
                </a:solidFill>
              </a:rPr>
              <a:t>Pintu gerbang 100% terkunci elektrik. Hanya member dengan status ACTIVE yang dapat membuka pintu swing barrier.</a:t>
            </a:r>
            <a:endParaRPr lang="en-US" sz="1300" dirty="0"/>
          </a:p>
        </p:txBody>
      </p:sp>
      <p:sp>
        <p:nvSpPr>
          <p:cNvPr id="14" name="Masalah 2"/>
          <p:cNvSpPr/>
          <p:nvPr/>
        </p:nvSpPr>
        <p:spPr>
          <a:xfrm>
            <a:off x="4338218" y="1508760"/>
            <a:ext cx="351525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5" name="Masalah circle"/>
          <p:cNvSpPr/>
          <p:nvPr/>
        </p:nvSpPr>
        <p:spPr>
          <a:xfrm>
            <a:off x="4566818" y="1719072"/>
            <a:ext cx="502920" cy="502920"/>
          </a:xfrm>
          <a:prstGeom prst="ellipse">
            <a:avLst/>
          </a:prstGeom>
          <a:solidFill>
            <a:srgbClr val="FDE8E9"/>
          </a:solidFill>
          <a:ln/>
        </p:spPr>
      </p:sp>
      <p:pic>
        <p:nvPicPr>
          <p:cNvPr id="16" name="Image 2" descr="Masalah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2548" y="1844802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06898" y="1719072"/>
            <a:ext cx="2463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540"/>
                </a:solidFill>
              </a:rPr>
              <a:t>Pembukuan &amp; Kasir Rawan Selisih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612538" y="2423160"/>
            <a:ext cx="301233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Transaksi kasir manual rawan salah hitung.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Belum ada cetak nota resmi berlogo &amp; cap lunas otomatis.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Rekonsiliasi modal kas harian memakan waktu staf.</a:t>
            </a:r>
            <a:endParaRPr lang="en-US" sz="1400" dirty="0"/>
          </a:p>
        </p:txBody>
      </p:sp>
      <p:sp>
        <p:nvSpPr>
          <p:cNvPr id="19" name="Solusi 2"/>
          <p:cNvSpPr/>
          <p:nvPr/>
        </p:nvSpPr>
        <p:spPr>
          <a:xfrm>
            <a:off x="4338218" y="4343400"/>
            <a:ext cx="3515258" cy="1874520"/>
          </a:xfrm>
          <a:prstGeom prst="roundRect">
            <a:avLst>
              <a:gd name="adj" fmla="val 5854"/>
            </a:avLst>
          </a:prstGeom>
          <a:solidFill>
            <a:srgbClr val="0B1530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20" name="Menuju solusi circle"/>
          <p:cNvSpPr/>
          <p:nvPr/>
        </p:nvSpPr>
        <p:spPr>
          <a:xfrm>
            <a:off x="5894680" y="4041648"/>
            <a:ext cx="402336" cy="402336"/>
          </a:xfrm>
          <a:prstGeom prst="ellipse">
            <a:avLst/>
          </a:prstGeom>
          <a:solidFill>
            <a:srgbClr val="2FB380"/>
          </a:solidFill>
          <a:ln/>
        </p:spPr>
      </p:sp>
      <p:pic>
        <p:nvPicPr>
          <p:cNvPr id="21" name="Image 3" descr="Menuju solus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264" y="4142232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612538" y="45262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4A63F"/>
                </a:solidFill>
              </a:rPr>
              <a:t>Solusi: POS Terintegrasi Penuh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4612538" y="507492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3F5"/>
                </a:solidFill>
              </a:rPr>
              <a:t>Pembayaran di kasir (Membership, Daily Pass, PT, Retail) langsung membuka akses gerbang dan tercetak rapi pada nota standar A4.</a:t>
            </a:r>
            <a:endParaRPr lang="en-US" sz="1300" dirty="0"/>
          </a:p>
        </p:txBody>
      </p:sp>
      <p:sp>
        <p:nvSpPr>
          <p:cNvPr id="24" name="Masalah 3"/>
          <p:cNvSpPr/>
          <p:nvPr/>
        </p:nvSpPr>
        <p:spPr>
          <a:xfrm>
            <a:off x="8127797" y="1508760"/>
            <a:ext cx="3515258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25" name="Masalah circle"/>
          <p:cNvSpPr/>
          <p:nvPr/>
        </p:nvSpPr>
        <p:spPr>
          <a:xfrm>
            <a:off x="8356397" y="1719072"/>
            <a:ext cx="502920" cy="502920"/>
          </a:xfrm>
          <a:prstGeom prst="ellipse">
            <a:avLst/>
          </a:prstGeom>
          <a:solidFill>
            <a:srgbClr val="FDE8E9"/>
          </a:solidFill>
          <a:ln/>
        </p:spPr>
      </p:sp>
      <p:pic>
        <p:nvPicPr>
          <p:cNvPr id="26" name="Image 4" descr="Masalah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2127" y="1844802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996477" y="1719072"/>
            <a:ext cx="24636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540"/>
                </a:solidFill>
              </a:rPr>
              <a:t>Pengalaman Member Konvensional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8402117" y="2423160"/>
            <a:ext cx="301233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Harus titip kartu fisik di meja resepsionis.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Antrean kasir memperlambat alur masuk member.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Belum ada notifikasi otomatis pengingat paket habis via WhatsApp.</a:t>
            </a:r>
            <a:endParaRPr lang="en-US" sz="1400" dirty="0"/>
          </a:p>
        </p:txBody>
      </p:sp>
      <p:sp>
        <p:nvSpPr>
          <p:cNvPr id="29" name="Solusi 3"/>
          <p:cNvSpPr/>
          <p:nvPr/>
        </p:nvSpPr>
        <p:spPr>
          <a:xfrm>
            <a:off x="8127797" y="4343400"/>
            <a:ext cx="3515258" cy="1874520"/>
          </a:xfrm>
          <a:prstGeom prst="roundRect">
            <a:avLst>
              <a:gd name="adj" fmla="val 5854"/>
            </a:avLst>
          </a:prstGeom>
          <a:solidFill>
            <a:srgbClr val="0B1530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30" name="Menuju solusi circle"/>
          <p:cNvSpPr/>
          <p:nvPr/>
        </p:nvSpPr>
        <p:spPr>
          <a:xfrm>
            <a:off x="9684258" y="4041648"/>
            <a:ext cx="402336" cy="402336"/>
          </a:xfrm>
          <a:prstGeom prst="ellipse">
            <a:avLst/>
          </a:prstGeom>
          <a:solidFill>
            <a:srgbClr val="2FB380"/>
          </a:solidFill>
          <a:ln/>
        </p:spPr>
      </p:sp>
      <p:pic>
        <p:nvPicPr>
          <p:cNvPr id="31" name="Image 5" descr="Menuju solus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842" y="4142232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402117" y="45262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4A63F"/>
                </a:solidFill>
              </a:rPr>
              <a:t>Solusi: Touchless Face AI Experience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402117" y="5074920"/>
            <a:ext cx="29666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3F5"/>
                </a:solidFill>
              </a:rPr>
              <a:t>Member cukup menatap kamera gerbang (Face ID) tanpa repot bawa kartu fisik. Menaikkan prestise Kaisar Gym ke standar mega-gym modern.</a:t>
            </a:r>
            <a:endParaRPr lang="en-US" sz="13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6F12"/>
                </a:solidFill>
              </a:rPr>
              <a:t>INVESTASI &amp; SPESIFIKASI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530"/>
                </a:solidFill>
              </a:rPr>
              <a:t>Rincian Pengadaan Hardware &amp; Pemasangan</a:t>
            </a:r>
            <a:endParaRPr lang="en-US" sz="3200" dirty="0"/>
          </a:p>
        </p:txBody>
      </p:sp>
      <p:sp>
        <p:nvSpPr>
          <p:cNvPr id="4" name="Foto penawaran"/>
          <p:cNvSpPr/>
          <p:nvPr/>
        </p:nvSpPr>
        <p:spPr>
          <a:xfrm>
            <a:off x="548640" y="1508760"/>
            <a:ext cx="5120640" cy="3388459"/>
          </a:xfrm>
          <a:prstGeom prst="roundRect">
            <a:avLst>
              <a:gd name="adj" fmla="val 3238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pic>
        <p:nvPicPr>
          <p:cNvPr id="5" name="Image 0" descr="Tabel rincian harga hardwa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4846320" cy="3114139"/>
          </a:xfrm>
          <a:prstGeom prst="rect">
            <a:avLst/>
          </a:prstGeom>
        </p:spPr>
      </p:pic>
      <p:sp>
        <p:nvSpPr>
          <p:cNvPr id="6" name="Item 1"/>
          <p:cNvSpPr/>
          <p:nvPr/>
        </p:nvSpPr>
        <p:spPr>
          <a:xfrm>
            <a:off x="5989320" y="1508760"/>
            <a:ext cx="5653735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7" name="Number 1"/>
          <p:cNvSpPr txBox="1"/>
          <p:nvPr/>
        </p:nvSpPr>
        <p:spPr>
          <a:xfrm>
            <a:off x="6172200" y="1691640"/>
            <a:ext cx="384048" cy="384048"/>
          </a:xfrm>
          <a:prstGeom prst="ellipse">
            <a:avLst/>
          </a:prstGeom>
          <a:solidFill>
            <a:srgbClr val="0B1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63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720840" y="1600200"/>
            <a:ext cx="2910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</a:rPr>
              <a:t>Swing Barrier Gate 1 CH EGS012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585655" y="1600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9A6F12"/>
                </a:solidFill>
              </a:rPr>
              <a:t>Rp 23.000.000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720840" y="2011680"/>
            <a:ext cx="4739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</a:rPr>
              <a:t>Material Stainless Steel SUS304 (tebal ≥ 1.5mm) tahan karat &amp; keringat. Motor Brushless DC 24V halus dan awet. Kecepatan buka ≤ 0.4 detik (50 orang/menit).</a:t>
            </a:r>
            <a:endParaRPr lang="en-US" sz="1300" dirty="0"/>
          </a:p>
        </p:txBody>
      </p:sp>
      <p:sp>
        <p:nvSpPr>
          <p:cNvPr id="11" name="Item 2"/>
          <p:cNvSpPr/>
          <p:nvPr/>
        </p:nvSpPr>
        <p:spPr>
          <a:xfrm>
            <a:off x="5989320" y="2807208"/>
            <a:ext cx="5653735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2" name="Number 2"/>
          <p:cNvSpPr txBox="1"/>
          <p:nvPr/>
        </p:nvSpPr>
        <p:spPr>
          <a:xfrm>
            <a:off x="6172200" y="2990088"/>
            <a:ext cx="384048" cy="384048"/>
          </a:xfrm>
          <a:prstGeom prst="ellipse">
            <a:avLst/>
          </a:prstGeom>
          <a:solidFill>
            <a:srgbClr val="0B1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63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720840" y="2898648"/>
            <a:ext cx="2910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</a:rPr>
              <a:t>Entragate IMS Controller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585655" y="28986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9A6F12"/>
                </a:solidFill>
              </a:rPr>
              <a:t>Rp 6.000.000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720840" y="3310128"/>
            <a:ext cx="4739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</a:rPr>
              <a:t>Otak gerbang dengan komunikasi Ethernet LAN &amp; Support API Lokal. Terhubung langsung dengan Server POS Kaisar Gym melalui kabel jaringan lokal.</a:t>
            </a:r>
            <a:endParaRPr lang="en-US" sz="1300" dirty="0"/>
          </a:p>
        </p:txBody>
      </p:sp>
      <p:sp>
        <p:nvSpPr>
          <p:cNvPr id="16" name="Item 3"/>
          <p:cNvSpPr/>
          <p:nvPr/>
        </p:nvSpPr>
        <p:spPr>
          <a:xfrm>
            <a:off x="5989320" y="4105656"/>
            <a:ext cx="5653735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7" name="Number 3"/>
          <p:cNvSpPr txBox="1"/>
          <p:nvPr/>
        </p:nvSpPr>
        <p:spPr>
          <a:xfrm>
            <a:off x="6172200" y="4288536"/>
            <a:ext cx="384048" cy="384048"/>
          </a:xfrm>
          <a:prstGeom prst="ellipse">
            <a:avLst/>
          </a:prstGeom>
          <a:solidFill>
            <a:srgbClr val="0B1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63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720840" y="4197096"/>
            <a:ext cx="2910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</a:rPr>
              <a:t>Reader Face Dome AI (2 Unit)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9585655" y="419709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9A6F12"/>
                </a:solidFill>
              </a:rPr>
              <a:t>Rp 10.000.000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6720840" y="4608576"/>
            <a:ext cx="4739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</a:rPr>
              <a:t>Kapasitas 5.000 Wajah, 5.000 QR, 5.000 Kartu. 1 unit untuk arah Masuk (IN) dan 1 unit untuk arah Keluar (OUT).</a:t>
            </a:r>
            <a:endParaRPr lang="en-US" sz="1300" dirty="0"/>
          </a:p>
        </p:txBody>
      </p:sp>
      <p:sp>
        <p:nvSpPr>
          <p:cNvPr id="21" name="Total investasi"/>
          <p:cNvSpPr/>
          <p:nvPr/>
        </p:nvSpPr>
        <p:spPr>
          <a:xfrm>
            <a:off x="548640" y="544068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0B1530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68680" y="5577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63F"/>
                </a:solidFill>
              </a:rPr>
              <a:t>TOTAL INVESTASI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2834640" y="5577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39.000.000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6035040" y="5577840"/>
            <a:ext cx="5333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6F12"/>
                </a:solidFill>
              </a:rPr>
              <a:t>INVESTASI &amp; SPESIFIKASI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530"/>
                </a:solidFill>
              </a:rPr>
              <a:t>Rincian Pengadaan Hardware &amp; Pemasangan</a:t>
            </a:r>
            <a:endParaRPr lang="en-US" sz="3200" dirty="0"/>
          </a:p>
        </p:txBody>
      </p:sp>
      <p:sp>
        <p:nvSpPr>
          <p:cNvPr id="4" name="Foto penawaran"/>
          <p:cNvSpPr/>
          <p:nvPr/>
        </p:nvSpPr>
        <p:spPr>
          <a:xfrm>
            <a:off x="548640" y="1508760"/>
            <a:ext cx="5120640" cy="3422357"/>
          </a:xfrm>
          <a:prstGeom prst="roundRect">
            <a:avLst>
              <a:gd name="adj" fmla="val 3206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pic>
        <p:nvPicPr>
          <p:cNvPr id="5" name="Image 0" descr="Tabel rincian harga hardwa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4846320" cy="3148037"/>
          </a:xfrm>
          <a:prstGeom prst="rect">
            <a:avLst/>
          </a:prstGeom>
        </p:spPr>
      </p:pic>
      <p:sp>
        <p:nvSpPr>
          <p:cNvPr id="6" name="Item 1"/>
          <p:cNvSpPr/>
          <p:nvPr/>
        </p:nvSpPr>
        <p:spPr>
          <a:xfrm>
            <a:off x="5989320" y="1508760"/>
            <a:ext cx="5653735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7" name="Number 1"/>
          <p:cNvSpPr txBox="1"/>
          <p:nvPr/>
        </p:nvSpPr>
        <p:spPr>
          <a:xfrm>
            <a:off x="6172200" y="1691640"/>
            <a:ext cx="384048" cy="384048"/>
          </a:xfrm>
          <a:prstGeom prst="ellipse">
            <a:avLst/>
          </a:prstGeom>
          <a:solidFill>
            <a:srgbClr val="0B1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63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720840" y="1600200"/>
            <a:ext cx="2910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</a:rPr>
              <a:t>Swing Barrier Gate 2 CH EGS012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585655" y="1600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9A6F12"/>
                </a:solidFill>
              </a:rPr>
              <a:t>Rp 35.000.000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720840" y="2011680"/>
            <a:ext cx="4739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</a:rPr>
              <a:t>Material Stainless Steel SUS304 (tebal ≥ 1.5mm) tahan karat &amp; keringat. Motor Brushless DC 24V halus dan awet. Kecepatan buka ≤ 0.4 detik (50 orang/menit).</a:t>
            </a:r>
            <a:endParaRPr lang="en-US" sz="1300" dirty="0"/>
          </a:p>
        </p:txBody>
      </p:sp>
      <p:sp>
        <p:nvSpPr>
          <p:cNvPr id="11" name="Item 2"/>
          <p:cNvSpPr/>
          <p:nvPr/>
        </p:nvSpPr>
        <p:spPr>
          <a:xfrm>
            <a:off x="5989320" y="2807208"/>
            <a:ext cx="5653735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2" name="Number 2"/>
          <p:cNvSpPr txBox="1"/>
          <p:nvPr/>
        </p:nvSpPr>
        <p:spPr>
          <a:xfrm>
            <a:off x="6172200" y="2990088"/>
            <a:ext cx="384048" cy="384048"/>
          </a:xfrm>
          <a:prstGeom prst="ellipse">
            <a:avLst/>
          </a:prstGeom>
          <a:solidFill>
            <a:srgbClr val="0B1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63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720840" y="2898648"/>
            <a:ext cx="2910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</a:rPr>
              <a:t>Entragate IMS Controller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585655" y="28986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9A6F12"/>
                </a:solidFill>
              </a:rPr>
              <a:t>Rp 6.000.000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720840" y="3310128"/>
            <a:ext cx="4739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</a:rPr>
              <a:t>Otak gerbang dengan komunikasi Ethernet LAN &amp; Support API Lokal. Terhubung langsung dengan Server POS Kaisar Gym melalui kabel jaringan lokal.</a:t>
            </a:r>
            <a:endParaRPr lang="en-US" sz="1300" dirty="0"/>
          </a:p>
        </p:txBody>
      </p:sp>
      <p:sp>
        <p:nvSpPr>
          <p:cNvPr id="16" name="Item 3"/>
          <p:cNvSpPr/>
          <p:nvPr/>
        </p:nvSpPr>
        <p:spPr>
          <a:xfrm>
            <a:off x="5989320" y="4105656"/>
            <a:ext cx="5653735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7" name="Number 3"/>
          <p:cNvSpPr txBox="1"/>
          <p:nvPr/>
        </p:nvSpPr>
        <p:spPr>
          <a:xfrm>
            <a:off x="6172200" y="4288536"/>
            <a:ext cx="384048" cy="384048"/>
          </a:xfrm>
          <a:prstGeom prst="ellipse">
            <a:avLst/>
          </a:prstGeom>
          <a:solidFill>
            <a:srgbClr val="0B1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63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720840" y="4197096"/>
            <a:ext cx="2910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</a:rPr>
              <a:t>Reader Face Dome AI (2 Unit)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9585655" y="419709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9A6F12"/>
                </a:solidFill>
              </a:rPr>
              <a:t>Rp 10.000.000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6720840" y="4608576"/>
            <a:ext cx="4739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</a:rPr>
              <a:t>Kapasitas 5.000 Wajah, 5.000 QR, 5.000 Kartu. 1 unit untuk arah Masuk (IN) dan 1 unit untuk arah Keluar (OUT).</a:t>
            </a:r>
            <a:endParaRPr lang="en-US" sz="1300" dirty="0"/>
          </a:p>
        </p:txBody>
      </p:sp>
      <p:sp>
        <p:nvSpPr>
          <p:cNvPr id="21" name="Total investasi"/>
          <p:cNvSpPr/>
          <p:nvPr/>
        </p:nvSpPr>
        <p:spPr>
          <a:xfrm>
            <a:off x="548640" y="544068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0B1530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68680" y="5577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63F"/>
                </a:solidFill>
              </a:rPr>
              <a:t>TOTAL INVESTASI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2834640" y="5577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51.000.000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6035040" y="5577840"/>
            <a:ext cx="5333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6F12"/>
                </a:solidFill>
              </a:rPr>
              <a:t>DESAIN LAYOUT GERBANG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530"/>
                </a:solidFill>
              </a:rPr>
              <a:t>Konsep Gerbang: 1-Channel Bidirectional</a:t>
            </a:r>
            <a:endParaRPr lang="en-US" sz="3200" dirty="0"/>
          </a:p>
        </p:txBody>
      </p:sp>
      <p:sp>
        <p:nvSpPr>
          <p:cNvPr id="4" name="Reader Luar"/>
          <p:cNvSpPr/>
          <p:nvPr/>
        </p:nvSpPr>
        <p:spPr>
          <a:xfrm>
            <a:off x="548640" y="1508760"/>
            <a:ext cx="5410048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5" name="Reader Luar circle"/>
          <p:cNvSpPr/>
          <p:nvPr/>
        </p:nvSpPr>
        <p:spPr>
          <a:xfrm>
            <a:off x="822960" y="1737360"/>
            <a:ext cx="594360" cy="594360"/>
          </a:xfrm>
          <a:prstGeom prst="ellipse">
            <a:avLst/>
          </a:prstGeom>
          <a:solidFill>
            <a:srgbClr val="2FB380"/>
          </a:solidFill>
          <a:ln/>
        </p:spPr>
      </p:sp>
      <p:pic>
        <p:nvPicPr>
          <p:cNvPr id="6" name="Image 0" descr="Reader Lu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88595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737360"/>
            <a:ext cx="412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6F12"/>
                </a:solidFill>
              </a:rPr>
              <a:t>SISI MASUK / IN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965960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540"/>
                </a:solidFill>
              </a:rPr>
              <a:t>Reader Luar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6032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Dipasang di tiang depan menghadap koridor luar.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Member cukup menatap kamera Face ID atau scan QR di HP.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Saat status valid, daun akrilik mengayun membuka ke arah DALAM.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Member dipersilakan masuk latihan.</a:t>
            </a:r>
            <a:endParaRPr lang="en-US" sz="1400" dirty="0"/>
          </a:p>
        </p:txBody>
      </p:sp>
      <p:sp>
        <p:nvSpPr>
          <p:cNvPr id="10" name="Reader Dalam"/>
          <p:cNvSpPr/>
          <p:nvPr/>
        </p:nvSpPr>
        <p:spPr>
          <a:xfrm>
            <a:off x="6233008" y="1508760"/>
            <a:ext cx="5410048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1" name="Reader Dalam circle"/>
          <p:cNvSpPr/>
          <p:nvPr/>
        </p:nvSpPr>
        <p:spPr>
          <a:xfrm>
            <a:off x="6507328" y="173736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1" descr="Reader Dal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918" y="188595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84568" y="1737360"/>
            <a:ext cx="412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6F12"/>
                </a:solidFill>
              </a:rPr>
              <a:t>SISI KELUAR / OUT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7284568" y="1965960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540"/>
                </a:solidFill>
              </a:rPr>
              <a:t>Reader Dalam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6553048" y="2560320"/>
            <a:ext cx="4769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Dipasang di tiang dalam menghadap area fitness.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Member yang selesai latihan menatap kamera Face ID keluar.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Saat terdeteksi, daun akrilik mengayun membuka ke arah LUAR.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Sistem otomatis mencatat durasi latihan &amp; jam keluar di database.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44074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6F12"/>
                </a:solidFill>
              </a:rPr>
              <a:t>KEUNGGULAN &amp; FITUR KESELAMATAN</a:t>
            </a:r>
            <a:endParaRPr lang="en-US" sz="1200" dirty="0"/>
          </a:p>
        </p:txBody>
      </p:sp>
      <p:sp>
        <p:nvSpPr>
          <p:cNvPr id="17" name="Efisiensi Tempat &amp; Biaya"/>
          <p:cNvSpPr/>
          <p:nvPr/>
        </p:nvSpPr>
        <p:spPr>
          <a:xfrm>
            <a:off x="548640" y="4754880"/>
            <a:ext cx="3515258" cy="1463040"/>
          </a:xfrm>
          <a:prstGeom prst="roundRect">
            <a:avLst>
              <a:gd name="adj" fmla="val 7500"/>
            </a:avLst>
          </a:prstGeom>
          <a:solidFill>
            <a:srgbClr val="0B1530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8" name="Efisiensi Tempat &amp; Biaya circle"/>
          <p:cNvSpPr/>
          <p:nvPr/>
        </p:nvSpPr>
        <p:spPr>
          <a:xfrm>
            <a:off x="777240" y="4937760"/>
            <a:ext cx="457200" cy="457200"/>
          </a:xfrm>
          <a:prstGeom prst="ellipse">
            <a:avLst/>
          </a:prstGeom>
          <a:solidFill>
            <a:srgbClr val="D4A63F"/>
          </a:solidFill>
          <a:ln/>
        </p:spPr>
      </p:sp>
      <p:pic>
        <p:nvPicPr>
          <p:cNvPr id="19" name="Image 2" descr="Efisiensi Tempat &amp; Biay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5052060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71600" y="4937760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Efisiensi Tempat &amp; Biaya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548640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3F5"/>
                </a:solidFill>
              </a:rPr>
              <a:t>Cukup 1 lorong (1 pasang pedestal) untuk masuk dan keluar bergantian.</a:t>
            </a:r>
            <a:endParaRPr lang="en-US" sz="1300" dirty="0"/>
          </a:p>
        </p:txBody>
      </p:sp>
      <p:sp>
        <p:nvSpPr>
          <p:cNvPr id="22" name="Daun Akrilik Ramah Pengguna"/>
          <p:cNvSpPr/>
          <p:nvPr/>
        </p:nvSpPr>
        <p:spPr>
          <a:xfrm>
            <a:off x="4338218" y="4754880"/>
            <a:ext cx="3515258" cy="1463040"/>
          </a:xfrm>
          <a:prstGeom prst="roundRect">
            <a:avLst>
              <a:gd name="adj" fmla="val 7500"/>
            </a:avLst>
          </a:prstGeom>
          <a:solidFill>
            <a:srgbClr val="0B1530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23" name="Daun Akrilik Ramah Pengguna circle"/>
          <p:cNvSpPr/>
          <p:nvPr/>
        </p:nvSpPr>
        <p:spPr>
          <a:xfrm>
            <a:off x="4566818" y="4937760"/>
            <a:ext cx="457200" cy="457200"/>
          </a:xfrm>
          <a:prstGeom prst="ellipse">
            <a:avLst/>
          </a:prstGeom>
          <a:solidFill>
            <a:srgbClr val="D4A63F"/>
          </a:solidFill>
          <a:ln/>
        </p:spPr>
      </p:sp>
      <p:pic>
        <p:nvPicPr>
          <p:cNvPr id="24" name="Image 3" descr="Daun Akrilik Ramah Penggun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118" y="5052060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161178" y="4937760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Daun Akrilik Ramah Pengguna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4612538" y="548640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3F5"/>
                </a:solidFill>
              </a:rPr>
              <a:t>Tidak menyangkut di tas gym besar seperti tripod putar lama.</a:t>
            </a:r>
            <a:endParaRPr lang="en-US" sz="1300" dirty="0"/>
          </a:p>
        </p:txBody>
      </p:sp>
      <p:sp>
        <p:nvSpPr>
          <p:cNvPr id="27" name="Fail-Safe Pemadaman Listrik"/>
          <p:cNvSpPr/>
          <p:nvPr/>
        </p:nvSpPr>
        <p:spPr>
          <a:xfrm>
            <a:off x="8127797" y="4754880"/>
            <a:ext cx="3515258" cy="1463040"/>
          </a:xfrm>
          <a:prstGeom prst="roundRect">
            <a:avLst>
              <a:gd name="adj" fmla="val 7500"/>
            </a:avLst>
          </a:prstGeom>
          <a:solidFill>
            <a:srgbClr val="0B1530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28" name="Fail-Safe Pemadaman Listrik circle"/>
          <p:cNvSpPr/>
          <p:nvPr/>
        </p:nvSpPr>
        <p:spPr>
          <a:xfrm>
            <a:off x="8356397" y="4937760"/>
            <a:ext cx="457200" cy="457200"/>
          </a:xfrm>
          <a:prstGeom prst="ellipse">
            <a:avLst/>
          </a:prstGeom>
          <a:solidFill>
            <a:srgbClr val="D4A63F"/>
          </a:solidFill>
          <a:ln/>
        </p:spPr>
      </p:sp>
      <p:pic>
        <p:nvPicPr>
          <p:cNvPr id="29" name="Image 4" descr="Fail-Safe Pemadaman Listri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0697" y="5052060"/>
            <a:ext cx="228600" cy="2286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950757" y="4937760"/>
            <a:ext cx="2509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Fail-Safe Pemadaman Listrik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8402117" y="548640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3F5"/>
                </a:solidFill>
              </a:rPr>
              <a:t>Jika listrik padam, motor otomatis melepas kunci dan daun akrilik bebas didorong untuk evakuasi darurat.</a:t>
            </a:r>
            <a:endParaRPr lang="en-US" sz="13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6F12"/>
                </a:solidFill>
              </a:rPr>
              <a:t>INTEGRASI SISTEM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530"/>
                </a:solidFill>
              </a:rPr>
              <a:t>Arsitektur Komunikasi API: Gate ↔ POS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6F12"/>
                </a:solidFill>
              </a:rPr>
              <a:t>ALUR VERIFIKASI OTOMATIS (FACE ➔ GATE)</a:t>
            </a:r>
            <a:endParaRPr lang="en-US" sz="1200" dirty="0"/>
          </a:p>
        </p:txBody>
      </p:sp>
      <p:sp>
        <p:nvSpPr>
          <p:cNvPr id="5" name="Face Dome AI"/>
          <p:cNvSpPr/>
          <p:nvPr/>
        </p:nvSpPr>
        <p:spPr>
          <a:xfrm>
            <a:off x="548640" y="182880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6" name="Face Dome AI circle"/>
          <p:cNvSpPr/>
          <p:nvPr/>
        </p:nvSpPr>
        <p:spPr>
          <a:xfrm>
            <a:off x="749808" y="2011680"/>
            <a:ext cx="457200" cy="457200"/>
          </a:xfrm>
          <a:prstGeom prst="ellipse">
            <a:avLst/>
          </a:prstGeom>
          <a:solidFill>
            <a:srgbClr val="0B1530"/>
          </a:solidFill>
          <a:ln/>
        </p:spPr>
      </p:sp>
      <p:pic>
        <p:nvPicPr>
          <p:cNvPr id="7" name="Image 0" descr="Face Dome A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212598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2011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A6F12"/>
                </a:solidFill>
              </a:rPr>
              <a:t>LANGKAH 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2128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540"/>
                </a:solidFill>
              </a:rPr>
              <a:t>Face Dome AI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69748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</a:rPr>
              <a:t>Member hadapkan wajah ke Reader Face Dome AI.</a:t>
            </a:r>
            <a:endParaRPr lang="en-US" sz="1300" dirty="0"/>
          </a:p>
        </p:txBody>
      </p:sp>
      <p:pic>
        <p:nvPicPr>
          <p:cNvPr id="11" name="Image 1" descr="Pana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808" y="2441448"/>
            <a:ext cx="237744" cy="237744"/>
          </a:xfrm>
          <a:prstGeom prst="rect">
            <a:avLst/>
          </a:prstGeom>
        </p:spPr>
      </p:pic>
      <p:sp>
        <p:nvSpPr>
          <p:cNvPr id="12" name="Controller"/>
          <p:cNvSpPr/>
          <p:nvPr/>
        </p:nvSpPr>
        <p:spPr>
          <a:xfrm>
            <a:off x="3383280" y="182880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3" name="Controller circle"/>
          <p:cNvSpPr/>
          <p:nvPr/>
        </p:nvSpPr>
        <p:spPr>
          <a:xfrm>
            <a:off x="3584448" y="2011680"/>
            <a:ext cx="457200" cy="457200"/>
          </a:xfrm>
          <a:prstGeom prst="ellipse">
            <a:avLst/>
          </a:prstGeom>
          <a:solidFill>
            <a:srgbClr val="0B1530"/>
          </a:solidFill>
          <a:ln/>
        </p:spPr>
      </p:sp>
      <p:pic>
        <p:nvPicPr>
          <p:cNvPr id="14" name="Image 2" descr="Controll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8748" y="212598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160520" y="2011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A6F12"/>
                </a:solidFill>
              </a:rPr>
              <a:t>LANGKAH 2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4160520" y="22128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540"/>
                </a:solidFill>
              </a:rPr>
              <a:t>Controller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584448" y="269748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</a:rPr>
              <a:t>Mengirim data ID member ke POS Server via LAN.</a:t>
            </a:r>
            <a:endParaRPr lang="en-US" sz="1300" dirty="0"/>
          </a:p>
        </p:txBody>
      </p:sp>
      <p:pic>
        <p:nvPicPr>
          <p:cNvPr id="18" name="Image 3" descr="Pana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2441448"/>
            <a:ext cx="237744" cy="237744"/>
          </a:xfrm>
          <a:prstGeom prst="rect">
            <a:avLst/>
          </a:prstGeom>
        </p:spPr>
      </p:pic>
      <p:sp>
        <p:nvSpPr>
          <p:cNvPr id="19" name="Backend POS"/>
          <p:cNvSpPr/>
          <p:nvPr/>
        </p:nvSpPr>
        <p:spPr>
          <a:xfrm>
            <a:off x="6217920" y="182880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20" name="Backend POS circle"/>
          <p:cNvSpPr/>
          <p:nvPr/>
        </p:nvSpPr>
        <p:spPr>
          <a:xfrm>
            <a:off x="6419088" y="2011680"/>
            <a:ext cx="457200" cy="457200"/>
          </a:xfrm>
          <a:prstGeom prst="ellipse">
            <a:avLst/>
          </a:prstGeom>
          <a:solidFill>
            <a:srgbClr val="0B1530"/>
          </a:solidFill>
          <a:ln/>
        </p:spPr>
      </p:sp>
      <p:pic>
        <p:nvPicPr>
          <p:cNvPr id="21" name="Image 4" descr="Backend PO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3388" y="212598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995160" y="20116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A6F12"/>
                </a:solidFill>
              </a:rPr>
              <a:t>LANGKAH 3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6995160" y="221284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540"/>
                </a:solidFill>
              </a:rPr>
              <a:t>Backend POS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6419088" y="269748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</a:rPr>
              <a:t>Memeriksa status paket membership di database.</a:t>
            </a:r>
            <a:endParaRPr lang="en-US" sz="1300" dirty="0"/>
          </a:p>
        </p:txBody>
      </p:sp>
      <p:pic>
        <p:nvPicPr>
          <p:cNvPr id="25" name="Image 5" descr="Pana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88" y="2441448"/>
            <a:ext cx="237744" cy="237744"/>
          </a:xfrm>
          <a:prstGeom prst="rect">
            <a:avLst/>
          </a:prstGeom>
        </p:spPr>
      </p:pic>
      <p:sp>
        <p:nvSpPr>
          <p:cNvPr id="26" name="ALLOW ➔ Gate Membuka"/>
          <p:cNvSpPr/>
          <p:nvPr/>
        </p:nvSpPr>
        <p:spPr>
          <a:xfrm>
            <a:off x="9052560" y="1828800"/>
            <a:ext cx="2590495" cy="667512"/>
          </a:xfrm>
          <a:prstGeom prst="roundRect">
            <a:avLst>
              <a:gd name="adj" fmla="val 13699"/>
            </a:avLst>
          </a:prstGeom>
          <a:solidFill>
            <a:srgbClr val="2FB380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27" name="Text 19"/>
          <p:cNvSpPr txBox="1"/>
          <p:nvPr/>
        </p:nvSpPr>
        <p:spPr>
          <a:xfrm>
            <a:off x="9217152" y="1901952"/>
            <a:ext cx="2316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ALLOW ➔ Gate Membuka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9217152" y="2194560"/>
            <a:ext cx="2316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ACTIVE &amp; belum expired</a:t>
            </a:r>
            <a:endParaRPr lang="en-US" sz="1200" dirty="0"/>
          </a:p>
        </p:txBody>
      </p:sp>
      <p:sp>
        <p:nvSpPr>
          <p:cNvPr id="29" name="DENY ➔ Buzzer Merah"/>
          <p:cNvSpPr/>
          <p:nvPr/>
        </p:nvSpPr>
        <p:spPr>
          <a:xfrm>
            <a:off x="9052560" y="2574036"/>
            <a:ext cx="2590495" cy="667512"/>
          </a:xfrm>
          <a:prstGeom prst="roundRect">
            <a:avLst>
              <a:gd name="adj" fmla="val 13699"/>
            </a:avLst>
          </a:prstGeom>
          <a:solidFill>
            <a:srgbClr val="E5484D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30" name="Text 22"/>
          <p:cNvSpPr txBox="1"/>
          <p:nvPr/>
        </p:nvSpPr>
        <p:spPr>
          <a:xfrm>
            <a:off x="9217152" y="2647188"/>
            <a:ext cx="2316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DENY ➔ Buzzer Merah</a:t>
            </a:r>
            <a:endParaRPr lang="en-US" sz="1400" dirty="0"/>
          </a:p>
        </p:txBody>
      </p:sp>
      <p:sp>
        <p:nvSpPr>
          <p:cNvPr id="31" name="Text 23"/>
          <p:cNvSpPr txBox="1"/>
          <p:nvPr/>
        </p:nvSpPr>
        <p:spPr>
          <a:xfrm>
            <a:off x="9217152" y="2939796"/>
            <a:ext cx="2316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PENDING / CUTI / EXPIRED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6F12"/>
                </a:solidFill>
              </a:rPr>
              <a:t>ATURAN BISNIS STATUS MEMBERSHIP</a:t>
            </a:r>
            <a:endParaRPr lang="en-US" sz="1200" dirty="0"/>
          </a:p>
        </p:txBody>
      </p:sp>
      <p:sp>
        <p:nvSpPr>
          <p:cNvPr id="33" name="Menunggu Aktivasi"/>
          <p:cNvSpPr/>
          <p:nvPr/>
        </p:nvSpPr>
        <p:spPr>
          <a:xfrm>
            <a:off x="548640" y="3886200"/>
            <a:ext cx="351525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34" name="Menunggu Aktivasi circle"/>
          <p:cNvSpPr/>
          <p:nvPr/>
        </p:nvSpPr>
        <p:spPr>
          <a:xfrm>
            <a:off x="749808" y="4041648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5" name="Image 6" descr="Menunggu Aktivasi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678" y="4144518"/>
            <a:ext cx="205740" cy="20574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325880" y="4041648"/>
            <a:ext cx="260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</a:rPr>
              <a:t>Menunggu Aktivasi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749808" y="4526280"/>
            <a:ext cx="31129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785"/>
                </a:solidFill>
              </a:rPr>
              <a:t>Paket dibeli sekarang, aktif mulai tanggal yang dipilih. Gate otomatis menolak jika belum masuk tanggal mulai.</a:t>
            </a:r>
            <a:endParaRPr lang="en-US" sz="1200" dirty="0"/>
          </a:p>
        </p:txBody>
      </p:sp>
      <p:sp>
        <p:nvSpPr>
          <p:cNvPr id="38" name="Masa Cuti (Freeze)"/>
          <p:cNvSpPr/>
          <p:nvPr/>
        </p:nvSpPr>
        <p:spPr>
          <a:xfrm>
            <a:off x="4338218" y="3886200"/>
            <a:ext cx="351525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39" name="Masa Cuti (Freeze) circle"/>
          <p:cNvSpPr/>
          <p:nvPr/>
        </p:nvSpPr>
        <p:spPr>
          <a:xfrm>
            <a:off x="4539386" y="4041648"/>
            <a:ext cx="411480" cy="411480"/>
          </a:xfrm>
          <a:prstGeom prst="ellipse">
            <a:avLst/>
          </a:prstGeom>
          <a:solidFill>
            <a:srgbClr val="3E8EDE"/>
          </a:solidFill>
          <a:ln/>
        </p:spPr>
      </p:sp>
      <p:pic>
        <p:nvPicPr>
          <p:cNvPr id="40" name="Image 7" descr="Masa Cuti (Freez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2256" y="4144518"/>
            <a:ext cx="205740" cy="20574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5115458" y="4041648"/>
            <a:ext cx="260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</a:rPr>
              <a:t>Masa Cuti (Freeze)</a:t>
            </a:r>
            <a:endParaRPr lang="en-US" sz="1500" dirty="0"/>
          </a:p>
        </p:txBody>
      </p:sp>
      <p:sp>
        <p:nvSpPr>
          <p:cNvPr id="42" name="Text 32"/>
          <p:cNvSpPr txBox="1"/>
          <p:nvPr/>
        </p:nvSpPr>
        <p:spPr>
          <a:xfrm>
            <a:off x="4539386" y="4526280"/>
            <a:ext cx="31129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785"/>
                </a:solidFill>
              </a:rPr>
              <a:t>Akses dikunci sementara selama periode cuti.</a:t>
            </a:r>
            <a:endParaRPr lang="en-US" sz="1200" dirty="0"/>
          </a:p>
        </p:txBody>
      </p:sp>
      <p:sp>
        <p:nvSpPr>
          <p:cNvPr id="43" name="Expired"/>
          <p:cNvSpPr/>
          <p:nvPr/>
        </p:nvSpPr>
        <p:spPr>
          <a:xfrm>
            <a:off x="8127797" y="3886200"/>
            <a:ext cx="351525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44" name="Expired circle"/>
          <p:cNvSpPr/>
          <p:nvPr/>
        </p:nvSpPr>
        <p:spPr>
          <a:xfrm>
            <a:off x="8328965" y="4041648"/>
            <a:ext cx="411480" cy="411480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45" name="Image 8" descr="Expired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1835" y="4144518"/>
            <a:ext cx="205740" cy="20574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8905037" y="4041648"/>
            <a:ext cx="2600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</a:rPr>
              <a:t>Expired</a:t>
            </a:r>
            <a:endParaRPr lang="en-US" sz="1500" dirty="0"/>
          </a:p>
        </p:txBody>
      </p:sp>
      <p:sp>
        <p:nvSpPr>
          <p:cNvPr id="47" name="Text 36"/>
          <p:cNvSpPr txBox="1"/>
          <p:nvPr/>
        </p:nvSpPr>
        <p:spPr>
          <a:xfrm>
            <a:off x="8328965" y="4526280"/>
            <a:ext cx="31129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785"/>
                </a:solidFill>
              </a:rPr>
              <a:t>Gerbang terkunci dan member diarahkan ke kasir untuk perpanjangan.</a:t>
            </a:r>
            <a:endParaRPr lang="en-US" sz="1200" dirty="0"/>
          </a:p>
        </p:txBody>
      </p:sp>
      <p:sp>
        <p:nvSpPr>
          <p:cNvPr id="48" name="Override gate"/>
          <p:cNvSpPr/>
          <p:nvPr/>
        </p:nvSpPr>
        <p:spPr>
          <a:xfrm>
            <a:off x="548640" y="5321808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0B1530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49" name="Text 38"/>
          <p:cNvSpPr txBox="1"/>
          <p:nvPr/>
        </p:nvSpPr>
        <p:spPr>
          <a:xfrm>
            <a:off x="822960" y="541324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63F"/>
                </a:solidFill>
              </a:rPr>
              <a:t>Fitur Tambahan</a:t>
            </a:r>
            <a:endParaRPr lang="en-US" sz="11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Tombol Override 'BUKA GERBANG' di Layar Kasir POS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DCE3F5"/>
                </a:solidFill>
              </a:rPr>
              <a:t>Manual oleh Kasir / Front Desk, berguna untuk:</a:t>
            </a:r>
            <a:endParaRPr lang="en-US" sz="1100" dirty="0"/>
          </a:p>
        </p:txBody>
      </p:sp>
      <p:sp>
        <p:nvSpPr>
          <p:cNvPr id="50" name="Use case 1"/>
          <p:cNvSpPr txBox="1"/>
          <p:nvPr/>
        </p:nvSpPr>
        <p:spPr>
          <a:xfrm>
            <a:off x="5212080" y="5532120"/>
            <a:ext cx="1976018" cy="640080"/>
          </a:xfrm>
          <a:prstGeom prst="roundRect">
            <a:avLst>
              <a:gd name="adj" fmla="val 14286"/>
            </a:avLst>
          </a:prstGeom>
          <a:solidFill>
            <a:srgbClr val="14244A"/>
          </a:solidFill>
          <a:ln w="12700">
            <a:solidFill>
              <a:srgbClr val="D4A63F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Tamu penting / VIP tanpa scan wajah</a:t>
            </a:r>
            <a:endParaRPr lang="en-US" sz="1200" dirty="0"/>
          </a:p>
        </p:txBody>
      </p:sp>
      <p:sp>
        <p:nvSpPr>
          <p:cNvPr id="51" name="Use case 2"/>
          <p:cNvSpPr txBox="1"/>
          <p:nvPr/>
        </p:nvSpPr>
        <p:spPr>
          <a:xfrm>
            <a:off x="7325258" y="5532120"/>
            <a:ext cx="1976018" cy="640080"/>
          </a:xfrm>
          <a:prstGeom prst="roundRect">
            <a:avLst>
              <a:gd name="adj" fmla="val 14286"/>
            </a:avLst>
          </a:prstGeom>
          <a:solidFill>
            <a:srgbClr val="14244A"/>
          </a:solidFill>
          <a:ln w="12700">
            <a:solidFill>
              <a:srgbClr val="D4A63F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Daily Pass atau trial sesi pertama</a:t>
            </a:r>
            <a:endParaRPr lang="en-US" sz="1200" dirty="0"/>
          </a:p>
        </p:txBody>
      </p:sp>
      <p:sp>
        <p:nvSpPr>
          <p:cNvPr id="52" name="Use case 3"/>
          <p:cNvSpPr txBox="1"/>
          <p:nvPr/>
        </p:nvSpPr>
        <p:spPr>
          <a:xfrm>
            <a:off x="9438437" y="5532120"/>
            <a:ext cx="1976018" cy="640080"/>
          </a:xfrm>
          <a:prstGeom prst="roundRect">
            <a:avLst>
              <a:gd name="adj" fmla="val 14286"/>
            </a:avLst>
          </a:prstGeom>
          <a:solidFill>
            <a:srgbClr val="14244A"/>
          </a:solidFill>
          <a:ln w="12700">
            <a:solidFill>
              <a:srgbClr val="D4A63F"/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Teknisi / vendor bawa peralatan besar</a:t>
            </a:r>
            <a:endParaRPr lang="en-US" sz="120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6F12"/>
                </a:solidFill>
              </a:rPr>
              <a:t>MEMBER JOURNEY EXPERIENCE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530"/>
                </a:solidFill>
              </a:rPr>
              <a:t>Visualisasi Alur Pengalaman Member Baru</a:t>
            </a:r>
            <a:endParaRPr lang="en-US" sz="3200" dirty="0"/>
          </a:p>
        </p:txBody>
      </p:sp>
      <p:sp>
        <p:nvSpPr>
          <p:cNvPr id="4" name="Langkah 1"/>
          <p:cNvSpPr/>
          <p:nvPr/>
        </p:nvSpPr>
        <p:spPr>
          <a:xfrm>
            <a:off x="548640" y="1508760"/>
            <a:ext cx="3515258" cy="470916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pic>
        <p:nvPicPr>
          <p:cNvPr id="5" name="Image 0" descr="Konsultasi Front Des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08760"/>
            <a:ext cx="3515258" cy="2606040"/>
          </a:xfrm>
          <a:prstGeom prst="rect">
            <a:avLst/>
          </a:prstGeom>
        </p:spPr>
      </p:pic>
      <p:sp>
        <p:nvSpPr>
          <p:cNvPr id="6" name="Number 1"/>
          <p:cNvSpPr txBox="1"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D4A63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530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49884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540"/>
                </a:solidFill>
              </a:rPr>
              <a:t>Konsultasi Front Desk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93776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</a:rPr>
              <a:t>Calon member disambut ramah oleh staf front desk di meja resepsionis berdesain mewah. Staf memaparkan katalog paket gym, kelas studio, dan program personal trainer.</a:t>
            </a:r>
            <a:endParaRPr lang="en-US" sz="1300" dirty="0"/>
          </a:p>
        </p:txBody>
      </p:sp>
      <p:pic>
        <p:nvPicPr>
          <p:cNvPr id="9" name="Image 1" descr="Berikutny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1330" y="2674620"/>
            <a:ext cx="219456" cy="274320"/>
          </a:xfrm>
          <a:prstGeom prst="rect">
            <a:avLst/>
          </a:prstGeom>
        </p:spPr>
      </p:pic>
      <p:sp>
        <p:nvSpPr>
          <p:cNvPr id="10" name="Langkah 2"/>
          <p:cNvSpPr/>
          <p:nvPr/>
        </p:nvSpPr>
        <p:spPr>
          <a:xfrm>
            <a:off x="4338218" y="1508760"/>
            <a:ext cx="3515258" cy="470916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pic>
        <p:nvPicPr>
          <p:cNvPr id="11" name="Image 2" descr="Input POS &amp; Cetak Nota A4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38218" y="1508760"/>
            <a:ext cx="3515258" cy="2606040"/>
          </a:xfrm>
          <a:prstGeom prst="rect">
            <a:avLst/>
          </a:prstGeom>
        </p:spPr>
      </p:pic>
      <p:sp>
        <p:nvSpPr>
          <p:cNvPr id="12" name="Number 2"/>
          <p:cNvSpPr txBox="1"/>
          <p:nvPr/>
        </p:nvSpPr>
        <p:spPr>
          <a:xfrm>
            <a:off x="4566818" y="3840480"/>
            <a:ext cx="548640" cy="548640"/>
          </a:xfrm>
          <a:prstGeom prst="ellipse">
            <a:avLst/>
          </a:prstGeom>
          <a:solidFill>
            <a:srgbClr val="D4A63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530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4612538" y="449884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540"/>
                </a:solidFill>
              </a:rPr>
              <a:t>Input POS &amp; Cetak Nota A4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612538" y="493776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</a:rPr>
              <a:t>Staf menginput data identitas &amp; foto wajah member ke sistem POS. Pembayaran lunas tercatat (Tunai/QRIS/Transfer), dan nota resmi berlogo &amp; cap lunas langsung dicetak.</a:t>
            </a:r>
            <a:endParaRPr lang="en-US" sz="1300" dirty="0"/>
          </a:p>
        </p:txBody>
      </p:sp>
      <p:pic>
        <p:nvPicPr>
          <p:cNvPr id="15" name="Image 3" descr="Berikutny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0909" y="2674620"/>
            <a:ext cx="219456" cy="274320"/>
          </a:xfrm>
          <a:prstGeom prst="rect">
            <a:avLst/>
          </a:prstGeom>
        </p:spPr>
      </p:pic>
      <p:sp>
        <p:nvSpPr>
          <p:cNvPr id="16" name="Langkah 3"/>
          <p:cNvSpPr/>
          <p:nvPr/>
        </p:nvSpPr>
        <p:spPr>
          <a:xfrm>
            <a:off x="8127797" y="1508760"/>
            <a:ext cx="3515258" cy="470916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pic>
        <p:nvPicPr>
          <p:cNvPr id="17" name="Image 4" descr="Akses Gate Masuk Fasilitas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27797" y="1508760"/>
            <a:ext cx="3515258" cy="2606040"/>
          </a:xfrm>
          <a:prstGeom prst="rect">
            <a:avLst/>
          </a:prstGeom>
        </p:spPr>
      </p:pic>
      <p:sp>
        <p:nvSpPr>
          <p:cNvPr id="18" name="Number 3"/>
          <p:cNvSpPr txBox="1"/>
          <p:nvPr/>
        </p:nvSpPr>
        <p:spPr>
          <a:xfrm>
            <a:off x="8356397" y="3840480"/>
            <a:ext cx="548640" cy="548640"/>
          </a:xfrm>
          <a:prstGeom prst="ellipse">
            <a:avLst/>
          </a:prstGeom>
          <a:solidFill>
            <a:srgbClr val="D4A63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530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8402117" y="4498848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540"/>
                </a:solidFill>
              </a:rPr>
              <a:t>Akses Gate Masuk Fasilitas</a:t>
            </a:r>
            <a:endParaRPr lang="en-US" sz="1700" dirty="0"/>
          </a:p>
        </p:txBody>
      </p:sp>
      <p:sp>
        <p:nvSpPr>
          <p:cNvPr id="20" name="Text 13"/>
          <p:cNvSpPr txBox="1"/>
          <p:nvPr/>
        </p:nvSpPr>
        <p:spPr>
          <a:xfrm>
            <a:off x="8402117" y="493776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</a:rPr>
              <a:t>Member melangkah ke Swing Barrier Gate. Face Dome AI mengenali wajah aktif dalam ≤ 0.4 detik, lampu indikator hijau, gerbang terbuka, dan member siap latihan!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4A63F"/>
                </a:solidFill>
              </a:rPr>
              <a:t>TEKNOLOGI &amp; KEMUDAHAN BISNIS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Ekosistem Layanan &amp; Operasional Terpadu</a:t>
            </a:r>
            <a:endParaRPr lang="en-US" sz="3200" dirty="0"/>
          </a:p>
        </p:txBody>
      </p:sp>
      <p:pic>
        <p:nvPicPr>
          <p:cNvPr id="4" name="Image 0" descr="Booking Studio via H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08760"/>
            <a:ext cx="3515258" cy="4709160"/>
          </a:xfrm>
          <a:prstGeom prst="rect">
            <a:avLst/>
          </a:prstGeom>
        </p:spPr>
      </p:pic>
      <p:sp>
        <p:nvSpPr>
          <p:cNvPr id="5" name="Overlay 1"/>
          <p:cNvSpPr/>
          <p:nvPr/>
        </p:nvSpPr>
        <p:spPr>
          <a:xfrm>
            <a:off x="548640" y="3931920"/>
            <a:ext cx="3515258" cy="2286000"/>
          </a:xfrm>
          <a:prstGeom prst="rect">
            <a:avLst/>
          </a:prstGeom>
          <a:solidFill>
            <a:srgbClr val="0B1530"/>
          </a:solidFill>
          <a:ln/>
        </p:spPr>
      </p:sp>
      <p:sp>
        <p:nvSpPr>
          <p:cNvPr id="6" name="Booking Studio via HP circle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D4A63F"/>
          </a:solidFill>
          <a:ln/>
        </p:spPr>
      </p:sp>
      <p:pic>
        <p:nvPicPr>
          <p:cNvPr id="7" name="Image 1" descr="Booking Studio via H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274820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17320" y="4160520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Booking Studio via HP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475488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3F5"/>
                </a:solidFill>
              </a:rPr>
              <a:t>Member booking kelas Yoga, Zumba, atau Muay Thai mandiri lewat portal smartphone tanpa antre di kasir. Kuota slot kelas terpantau real-time.</a:t>
            </a:r>
            <a:endParaRPr lang="en-US" sz="1300" dirty="0"/>
          </a:p>
        </p:txBody>
      </p:sp>
      <p:pic>
        <p:nvPicPr>
          <p:cNvPr id="10" name="Image 2" descr="Presensi Selfie + GPS Staf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38218" y="1508760"/>
            <a:ext cx="3515258" cy="4709160"/>
          </a:xfrm>
          <a:prstGeom prst="rect">
            <a:avLst/>
          </a:prstGeom>
        </p:spPr>
      </p:pic>
      <p:sp>
        <p:nvSpPr>
          <p:cNvPr id="11" name="Overlay 2"/>
          <p:cNvSpPr/>
          <p:nvPr/>
        </p:nvSpPr>
        <p:spPr>
          <a:xfrm>
            <a:off x="4338218" y="3931920"/>
            <a:ext cx="3515258" cy="2286000"/>
          </a:xfrm>
          <a:prstGeom prst="rect">
            <a:avLst/>
          </a:prstGeom>
          <a:solidFill>
            <a:srgbClr val="0B1530"/>
          </a:solidFill>
          <a:ln/>
        </p:spPr>
      </p:sp>
      <p:sp>
        <p:nvSpPr>
          <p:cNvPr id="12" name="Presensi Selfie + GPS Staf circle"/>
          <p:cNvSpPr/>
          <p:nvPr/>
        </p:nvSpPr>
        <p:spPr>
          <a:xfrm>
            <a:off x="4612538" y="4160520"/>
            <a:ext cx="457200" cy="457200"/>
          </a:xfrm>
          <a:prstGeom prst="ellipse">
            <a:avLst/>
          </a:prstGeom>
          <a:solidFill>
            <a:srgbClr val="D4A63F"/>
          </a:solidFill>
          <a:ln/>
        </p:spPr>
      </p:sp>
      <p:pic>
        <p:nvPicPr>
          <p:cNvPr id="13" name="Image 3" descr="Presensi Selfie + GPS Sta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6838" y="427482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06898" y="4160520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Presensi Selfie + GPS Staf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4612538" y="475488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3F5"/>
                </a:solidFill>
              </a:rPr>
              <a:t>Staf &amp; coach wajib clock-in foto selfie dengan validasi radius lokasi gym (Jl. Patimura No.84 Pontianak). Mencegah praktik titip absen &amp; fake GPS.</a:t>
            </a:r>
            <a:endParaRPr lang="en-US" sz="1300" dirty="0"/>
          </a:p>
        </p:txBody>
      </p:sp>
      <p:pic>
        <p:nvPicPr>
          <p:cNvPr id="16" name="Image 4" descr="Owner Remote Dashboard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127797" y="1508760"/>
            <a:ext cx="3515258" cy="4709160"/>
          </a:xfrm>
          <a:prstGeom prst="rect">
            <a:avLst/>
          </a:prstGeom>
        </p:spPr>
      </p:pic>
      <p:sp>
        <p:nvSpPr>
          <p:cNvPr id="17" name="Overlay 3"/>
          <p:cNvSpPr/>
          <p:nvPr/>
        </p:nvSpPr>
        <p:spPr>
          <a:xfrm>
            <a:off x="8127797" y="3931920"/>
            <a:ext cx="3515258" cy="2286000"/>
          </a:xfrm>
          <a:prstGeom prst="rect">
            <a:avLst/>
          </a:prstGeom>
          <a:solidFill>
            <a:srgbClr val="0B1530"/>
          </a:solidFill>
          <a:ln/>
        </p:spPr>
      </p:sp>
      <p:sp>
        <p:nvSpPr>
          <p:cNvPr id="18" name="Owner Remote Dashboard circle"/>
          <p:cNvSpPr/>
          <p:nvPr/>
        </p:nvSpPr>
        <p:spPr>
          <a:xfrm>
            <a:off x="8402117" y="4160520"/>
            <a:ext cx="457200" cy="457200"/>
          </a:xfrm>
          <a:prstGeom prst="ellipse">
            <a:avLst/>
          </a:prstGeom>
          <a:solidFill>
            <a:srgbClr val="D4A63F"/>
          </a:solidFill>
          <a:ln/>
        </p:spPr>
      </p:sp>
      <p:pic>
        <p:nvPicPr>
          <p:cNvPr id="19" name="Image 5" descr="Owner Remote Dashboar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6417" y="4274820"/>
            <a:ext cx="228600" cy="2286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8996477" y="4160520"/>
            <a:ext cx="2463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Owner Remote Dashboard</a:t>
            </a:r>
            <a:endParaRPr lang="en-US" sz="1600" dirty="0"/>
          </a:p>
        </p:txBody>
      </p:sp>
      <p:sp>
        <p:nvSpPr>
          <p:cNvPr id="21" name="Text 13"/>
          <p:cNvSpPr txBox="1"/>
          <p:nvPr/>
        </p:nvSpPr>
        <p:spPr>
          <a:xfrm>
            <a:off x="8402117" y="475488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3F5"/>
                </a:solidFill>
              </a:rPr>
              <a:t>Pantau omset harian live (Rp 48.720.000), 312 pengunjung aktif, dan status gate online langsung dari iPad, di mana saja.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C9AC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6F12"/>
                </a:solidFill>
              </a:rPr>
              <a:t>FITUR SOFTWARE POS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530"/>
                </a:solidFill>
              </a:rPr>
              <a:t>Sistem POS: Kasir, Billing &amp; Shift Kas Kecil</a:t>
            </a:r>
            <a:endParaRPr lang="en-US" sz="3200" dirty="0"/>
          </a:p>
        </p:txBody>
      </p:sp>
      <p:sp>
        <p:nvSpPr>
          <p:cNvPr id="4" name="Katalog Produk &amp; Paket"/>
          <p:cNvSpPr/>
          <p:nvPr/>
        </p:nvSpPr>
        <p:spPr>
          <a:xfrm>
            <a:off x="548640" y="1508760"/>
            <a:ext cx="3515258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5" name="Katalog Produk &amp; Paket circle"/>
          <p:cNvSpPr/>
          <p:nvPr/>
        </p:nvSpPr>
        <p:spPr>
          <a:xfrm>
            <a:off x="777240" y="1709928"/>
            <a:ext cx="457200" cy="457200"/>
          </a:xfrm>
          <a:prstGeom prst="ellipse">
            <a:avLst/>
          </a:prstGeom>
          <a:solidFill>
            <a:srgbClr val="0B1530"/>
          </a:solidFill>
          <a:ln/>
        </p:spPr>
      </p:sp>
      <p:pic>
        <p:nvPicPr>
          <p:cNvPr id="6" name="Image 0" descr="Katalog Produk &amp; Pa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24228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709928"/>
            <a:ext cx="2555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</a:rPr>
              <a:t>Katalog Produk &amp; Paket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301233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Membership Reguler, Studio, VIP, Student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Tiket Masuk Harian (Daily Pass)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Paket Personal Trainer (12/24 sesi)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Retail F&amp;B, Suplemen Whey, Air Mineral</a:t>
            </a:r>
            <a:endParaRPr lang="en-US" sz="1400" dirty="0"/>
          </a:p>
        </p:txBody>
      </p:sp>
      <p:sp>
        <p:nvSpPr>
          <p:cNvPr id="9" name="Metode Pembayaran Lengkap"/>
          <p:cNvSpPr/>
          <p:nvPr/>
        </p:nvSpPr>
        <p:spPr>
          <a:xfrm>
            <a:off x="4338218" y="1508760"/>
            <a:ext cx="3515258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0" name="Metode Pembayaran Lengkap circle"/>
          <p:cNvSpPr/>
          <p:nvPr/>
        </p:nvSpPr>
        <p:spPr>
          <a:xfrm>
            <a:off x="4566818" y="1709928"/>
            <a:ext cx="457200" cy="457200"/>
          </a:xfrm>
          <a:prstGeom prst="ellipse">
            <a:avLst/>
          </a:prstGeom>
          <a:solidFill>
            <a:srgbClr val="0B1530"/>
          </a:solidFill>
          <a:ln/>
        </p:spPr>
      </p:sp>
      <p:pic>
        <p:nvPicPr>
          <p:cNvPr id="11" name="Image 1" descr="Metode Pembayaran Lengka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118" y="182422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1178" y="1709928"/>
            <a:ext cx="2555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</a:rPr>
              <a:t>Metode Pembayaran Lengkap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2331720"/>
            <a:ext cx="301233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Pembayaran Tunai (Cash)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QRIS Statis / Dinamis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Transfer Bank (BCA, Mandiri, dll)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Split Payment (sebagian tunai + sebagian transfer)</a:t>
            </a:r>
            <a:endParaRPr lang="en-US" sz="1400" dirty="0"/>
          </a:p>
        </p:txBody>
      </p:sp>
      <p:sp>
        <p:nvSpPr>
          <p:cNvPr id="14" name="Cetak Nota Resmi Standar A4"/>
          <p:cNvSpPr/>
          <p:nvPr/>
        </p:nvSpPr>
        <p:spPr>
          <a:xfrm>
            <a:off x="8127797" y="1508760"/>
            <a:ext cx="3515258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5" name="Cetak Nota Resmi Standar A4 circle"/>
          <p:cNvSpPr/>
          <p:nvPr/>
        </p:nvSpPr>
        <p:spPr>
          <a:xfrm>
            <a:off x="8356397" y="1709928"/>
            <a:ext cx="457200" cy="457200"/>
          </a:xfrm>
          <a:prstGeom prst="ellipse">
            <a:avLst/>
          </a:prstGeom>
          <a:solidFill>
            <a:srgbClr val="0B1530"/>
          </a:solidFill>
          <a:ln/>
        </p:spPr>
      </p:sp>
      <p:pic>
        <p:nvPicPr>
          <p:cNvPr id="16" name="Image 2" descr="Cetak Nota Resmi Standar A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697" y="1824228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50757" y="1709928"/>
            <a:ext cx="2555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540"/>
                </a:solidFill>
              </a:rPr>
              <a:t>Cetak Nota Resmi Standar A4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2331720"/>
            <a:ext cx="301233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Format nota A4 standar profesional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Dilengkapi Logo Resmi Kaisar Gym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Alamat lengkap Jl. Patimura No.84 Pontianak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Cap Stempel 'LUNAS' otomatis</a:t>
            </a:r>
            <a:endParaRPr lang="en-US" sz="1400" dirty="0"/>
          </a:p>
        </p:txBody>
      </p:sp>
      <p:sp>
        <p:nvSpPr>
          <p:cNvPr id="19" name="SOP Buka-Tutup Shift Kasir"/>
          <p:cNvSpPr/>
          <p:nvPr/>
        </p:nvSpPr>
        <p:spPr>
          <a:xfrm>
            <a:off x="548640" y="4389120"/>
            <a:ext cx="5410048" cy="1828800"/>
          </a:xfrm>
          <a:prstGeom prst="roundRect">
            <a:avLst>
              <a:gd name="adj" fmla="val 6000"/>
            </a:avLst>
          </a:prstGeom>
          <a:solidFill>
            <a:srgbClr val="0B1530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20" name="SOP Buka-Tutup Shift Kasir circle"/>
          <p:cNvSpPr/>
          <p:nvPr/>
        </p:nvSpPr>
        <p:spPr>
          <a:xfrm>
            <a:off x="822960" y="4572000"/>
            <a:ext cx="457200" cy="457200"/>
          </a:xfrm>
          <a:prstGeom prst="ellipse">
            <a:avLst/>
          </a:prstGeom>
          <a:solidFill>
            <a:srgbClr val="D4A63F"/>
          </a:solidFill>
          <a:ln/>
        </p:spPr>
      </p:sp>
      <p:pic>
        <p:nvPicPr>
          <p:cNvPr id="21" name="Image 3" descr="SOP Buka-Tutup Shift Kasi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" y="468630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4572000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SOP Buka-Tutup Shift Kasir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166360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CE3F5"/>
                </a:solidFill>
              </a:rPr>
              <a:t>Setiap pergantian kasir wajib input saldo modal laci di awal shift. Di akhir shift, kasir memasukkan jumlah uang fisik riil. Sistem otomatis menghitung ada/tidaknya selisih kas demi akuntabilitas 100%.</a:t>
            </a:r>
            <a:endParaRPr lang="en-US" sz="1400" dirty="0"/>
          </a:p>
        </p:txBody>
      </p:sp>
      <p:sp>
        <p:nvSpPr>
          <p:cNvPr id="24" name="Laporan Finansial Real-Time untuk Owner"/>
          <p:cNvSpPr/>
          <p:nvPr/>
        </p:nvSpPr>
        <p:spPr>
          <a:xfrm>
            <a:off x="6233008" y="4389120"/>
            <a:ext cx="5410048" cy="1828800"/>
          </a:xfrm>
          <a:prstGeom prst="roundRect">
            <a:avLst>
              <a:gd name="adj" fmla="val 6000"/>
            </a:avLst>
          </a:prstGeom>
          <a:solidFill>
            <a:srgbClr val="0B1530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25" name="Laporan Finansial Real-Time untuk Owner circle"/>
          <p:cNvSpPr/>
          <p:nvPr/>
        </p:nvSpPr>
        <p:spPr>
          <a:xfrm>
            <a:off x="6507328" y="4572000"/>
            <a:ext cx="457200" cy="457200"/>
          </a:xfrm>
          <a:prstGeom prst="ellipse">
            <a:avLst/>
          </a:prstGeom>
          <a:solidFill>
            <a:srgbClr val="D4A63F"/>
          </a:solidFill>
          <a:ln/>
        </p:spPr>
      </p:sp>
      <p:pic>
        <p:nvPicPr>
          <p:cNvPr id="26" name="Image 4" descr="Laporan Finansial Real-Time untuk Own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1628" y="468630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101688" y="4572000"/>
            <a:ext cx="431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Laporan Finansial Real-Time untuk Owner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6507328" y="5166360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CE3F5"/>
                </a:solidFill>
              </a:rPr>
              <a:t>Owner dapat memantau omset harian, mingguan, dan bulanan langsung dari smartphone atau laptop kapan saja, tanpa harus menunggu laporan bulanan manual staf.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6F12"/>
                </a:solidFill>
              </a:rPr>
              <a:t>FITUR SOFTWARE POS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530"/>
                </a:solidFill>
              </a:rPr>
              <a:t>CRM Member, Kelas Studio &amp; Personal Trainer</a:t>
            </a:r>
            <a:endParaRPr lang="en-US" sz="3200" dirty="0"/>
          </a:p>
        </p:txBody>
      </p:sp>
      <p:sp>
        <p:nvSpPr>
          <p:cNvPr id="4" name="CRM &amp; Keanggotaan"/>
          <p:cNvSpPr/>
          <p:nvPr/>
        </p:nvSpPr>
        <p:spPr>
          <a:xfrm>
            <a:off x="548640" y="1508760"/>
            <a:ext cx="3515258" cy="470916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5" name="CRM &amp; Keanggotaan circle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0B1530"/>
          </a:solidFill>
          <a:ln/>
        </p:spPr>
      </p:sp>
      <p:pic>
        <p:nvPicPr>
          <p:cNvPr id="6" name="Image 0" descr="CRM &amp; Keanggota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9431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783080"/>
            <a:ext cx="2235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540"/>
                </a:solidFill>
              </a:rPr>
              <a:t>CRM &amp; Keanggotaan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5B6785"/>
                </a:solidFill>
              </a:rPr>
              <a:t>Pendaftaran member baru cepat dengan upload foto KTP dan foto wajah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5B6785"/>
                </a:solidFill>
              </a:rPr>
              <a:t>Pencatatan nomor plat kendaraan untuk hak akses parkir member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5B6785"/>
                </a:solidFill>
              </a:rPr>
              <a:t>Broadcast WhatsApp otomatis: pengingat masa aktif habis H-7 dan H-3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5B6785"/>
                </a:solidFill>
              </a:rPr>
              <a:t>Pengelolaan masa cuti member resmi berjangka waktu</a:t>
            </a:r>
            <a:endParaRPr lang="en-US" sz="1500" dirty="0"/>
          </a:p>
        </p:txBody>
      </p:sp>
      <p:sp>
        <p:nvSpPr>
          <p:cNvPr id="9" name="Studio Classes"/>
          <p:cNvSpPr/>
          <p:nvPr/>
        </p:nvSpPr>
        <p:spPr>
          <a:xfrm>
            <a:off x="4338218" y="1508760"/>
            <a:ext cx="3515258" cy="470916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0" name="Studio Classes circle"/>
          <p:cNvSpPr/>
          <p:nvPr/>
        </p:nvSpPr>
        <p:spPr>
          <a:xfrm>
            <a:off x="4612538" y="1783080"/>
            <a:ext cx="640080" cy="640080"/>
          </a:xfrm>
          <a:prstGeom prst="ellipse">
            <a:avLst/>
          </a:prstGeom>
          <a:solidFill>
            <a:srgbClr val="0B1530"/>
          </a:solidFill>
          <a:ln/>
        </p:spPr>
      </p:sp>
      <p:pic>
        <p:nvPicPr>
          <p:cNvPr id="11" name="Image 1" descr="Studio Class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558" y="19431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35498" y="1783080"/>
            <a:ext cx="2235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540"/>
                </a:solidFill>
              </a:rPr>
              <a:t>Studio Classes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269748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5B6785"/>
                </a:solidFill>
              </a:rPr>
              <a:t>Penjadwalan kelas studio (Yoga, Zumba, Spinning, Aerobic, Muay Thai)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5B6785"/>
                </a:solidFill>
              </a:rPr>
              <a:t>Batasan kuota peserta kelas untuk kenyamanan studio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5B6785"/>
                </a:solidFill>
              </a:rPr>
              <a:t>Booking mandiri oleh member melalui web portal smartphone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5B6785"/>
                </a:solidFill>
              </a:rPr>
              <a:t>Laporan keterisian kelas untuk evaluasi jadwal terpopuler</a:t>
            </a:r>
            <a:endParaRPr lang="en-US" sz="1500" dirty="0"/>
          </a:p>
        </p:txBody>
      </p:sp>
      <p:sp>
        <p:nvSpPr>
          <p:cNvPr id="14" name="Personal Trainer (PT)"/>
          <p:cNvSpPr/>
          <p:nvPr/>
        </p:nvSpPr>
        <p:spPr>
          <a:xfrm>
            <a:off x="8127797" y="1508760"/>
            <a:ext cx="3515258" cy="470916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5" name="Personal Trainer (PT) circle"/>
          <p:cNvSpPr/>
          <p:nvPr/>
        </p:nvSpPr>
        <p:spPr>
          <a:xfrm>
            <a:off x="8402117" y="1783080"/>
            <a:ext cx="640080" cy="640080"/>
          </a:xfrm>
          <a:prstGeom prst="ellipse">
            <a:avLst/>
          </a:prstGeom>
          <a:solidFill>
            <a:srgbClr val="0B1530"/>
          </a:solidFill>
          <a:ln/>
        </p:spPr>
      </p:sp>
      <p:pic>
        <p:nvPicPr>
          <p:cNvPr id="16" name="Image 2" descr="Personal Trainer (PT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2137" y="19431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225077" y="1783080"/>
            <a:ext cx="2235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540"/>
                </a:solidFill>
              </a:rPr>
              <a:t>Personal Trainer (PT)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2697480"/>
            <a:ext cx="296661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5B6785"/>
                </a:solidFill>
              </a:rPr>
              <a:t>Pembelian kontrak sesi PT (12, 24, atau 36 sesi)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5B6785"/>
                </a:solidFill>
              </a:rPr>
              <a:t>Input eksekusi sesi latihan oleh coach setelah selesai melatih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5B6785"/>
                </a:solidFill>
              </a:rPr>
              <a:t>Pengurangan kuota sesi otomatis dan transparan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5B6785"/>
                </a:solidFill>
              </a:rPr>
              <a:t>Rekap sesi selesai untuk perhitungan komisi trainer yang adil dan akurat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6F12"/>
                </a:solidFill>
              </a:rPr>
              <a:t>TATA KELOLA OPERASIONAL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530"/>
                </a:solidFill>
              </a:rPr>
              <a:t>SOP &amp; Matriks Hak Akses (RBAC 7 Roles)</a:t>
            </a:r>
            <a:endParaRPr lang="en-US" sz="3200" dirty="0"/>
          </a:p>
        </p:txBody>
      </p:sp>
      <p:graphicFrame>
        <p:nvGraphicFramePr>
          <p:cNvPr id="12" name="Tabel RBA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45262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4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4A63F"/>
                          </a:solidFill>
                        </a:rPr>
                        <a:t>Role</a:t>
                      </a:r>
                      <a:endParaRPr lang="en-US" sz="13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4A63F"/>
                          </a:solidFill>
                        </a:rPr>
                        <a:t>Pemegang Peran</a:t>
                      </a:r>
                      <a:endParaRPr lang="en-US" sz="13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4A63F"/>
                          </a:solidFill>
                        </a:rPr>
                        <a:t>Hak Akses / Wewenang</a:t>
                      </a:r>
                      <a:endParaRPr lang="en-US" sz="13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4A63F"/>
                          </a:solidFill>
                        </a:rPr>
                        <a:t>Kewajiban SOP Harian</a:t>
                      </a:r>
                      <a:endParaRPr lang="en-US" sz="13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A6F12"/>
                          </a:solidFill>
                        </a:rPr>
                        <a:t>SUPER_ADMIN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540"/>
                          </a:solidFill>
                        </a:rPr>
                        <a:t>Owner Kaisar Gym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785"/>
                          </a:solidFill>
                        </a:rPr>
                        <a:t>Akses penuh laporan omset, master harga paket, audit transaksi &amp; kelola akun staf.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785"/>
                          </a:solidFill>
                        </a:rPr>
                        <a:t>Review omset harian &amp; bulanan, approval kebijakan promo dan ekspansi.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A6F12"/>
                          </a:solidFill>
                        </a:rPr>
                        <a:t>OPS_MANAGER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540"/>
                          </a:solidFill>
                        </a:rPr>
                        <a:t>Manajer Operasional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785"/>
                          </a:solidFill>
                        </a:rPr>
                        <a:t>Akses operasional cabang, approval cuti member, audit shift kasir, buka gate darurat.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785"/>
                          </a:solidFill>
                        </a:rPr>
                        <a:t>Verifikasi setoran kas harian kasir, analisis kepadatan gerbang &amp; stok opname retail.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A6F12"/>
                          </a:solidFill>
                        </a:rPr>
                        <a:t>CASHIER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540"/>
                          </a:solidFill>
                        </a:rPr>
                        <a:t>Front Desk / Resepsionis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785"/>
                          </a:solidFill>
                        </a:rPr>
                        <a:t>Transaksi POS, registrasi member baru, cetak nota A4, buka shift &amp; tutup shift kasir.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785"/>
                          </a:solidFill>
                        </a:rPr>
                        <a:t>Hitung modal awal laci, foto wajah member saat daftar, rekonsiliasi uang fisik saat tutup shift.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A6F12"/>
                          </a:solidFill>
                        </a:rPr>
                        <a:t>TRAINER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540"/>
                          </a:solidFill>
                        </a:rPr>
                        <a:t>Coach / Personal Trainer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785"/>
                          </a:solidFill>
                        </a:rPr>
                        <a:t>Melihat jadwal sesi PT, input log latihan selesai, cek rekapitulasi komisi sesi.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785"/>
                          </a:solidFill>
                        </a:rPr>
                        <a:t>Presensi selfie GPS di area gym, input materi latihan &amp; konfirmasi pemakaian sesi member.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4A63F"/>
                </a:solidFill>
              </a:rPr>
              <a:t>PENUTUP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Kesimpulan &amp; Nilai Strategis bagi Kaisar Gym</a:t>
            </a:r>
            <a:endParaRPr lang="en-US" sz="3200" dirty="0"/>
          </a:p>
        </p:txBody>
      </p:sp>
      <p:sp>
        <p:nvSpPr>
          <p:cNvPr id="4" name="Proteksi Finansial 100%"/>
          <p:cNvSpPr/>
          <p:nvPr/>
        </p:nvSpPr>
        <p:spPr>
          <a:xfrm>
            <a:off x="548640" y="1554480"/>
            <a:ext cx="5410048" cy="2103120"/>
          </a:xfrm>
          <a:prstGeom prst="roundRect">
            <a:avLst>
              <a:gd name="adj" fmla="val 5217"/>
            </a:avLst>
          </a:prstGeom>
          <a:solidFill>
            <a:srgbClr val="14244A"/>
          </a:solidFill>
          <a:ln w="12700">
            <a:solidFill>
              <a:srgbClr val="2C41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4A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828800"/>
            <a:ext cx="385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Proteksi Finansial 100%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51760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CE3F5"/>
                </a:solidFill>
              </a:rPr>
              <a:t>Menutup total peluang member tak bertiket masuk latihan dan memastikan setiap rupiah tercatat di POS.</a:t>
            </a:r>
            <a:endParaRPr lang="en-US" sz="1500" dirty="0"/>
          </a:p>
        </p:txBody>
      </p:sp>
      <p:sp>
        <p:nvSpPr>
          <p:cNvPr id="8" name="Standar Mega-Gym Modern"/>
          <p:cNvSpPr/>
          <p:nvPr/>
        </p:nvSpPr>
        <p:spPr>
          <a:xfrm>
            <a:off x="6233008" y="1554480"/>
            <a:ext cx="5410048" cy="2103120"/>
          </a:xfrm>
          <a:prstGeom prst="roundRect">
            <a:avLst>
              <a:gd name="adj" fmla="val 5217"/>
            </a:avLst>
          </a:prstGeom>
          <a:solidFill>
            <a:srgbClr val="14244A"/>
          </a:solidFill>
          <a:ln w="12700">
            <a:solidFill>
              <a:srgbClr val="2C417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1783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4A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7513168" y="1828800"/>
            <a:ext cx="385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Standar Mega-Gym Modern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598768" y="2651760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CE3F5"/>
                </a:solidFill>
              </a:rPr>
              <a:t>Teknologi Swing Barrier SUS304 + Face Dome AI menghadirkan pengalaman kelas atas yang membanggakan bagi seluruh member.</a:t>
            </a:r>
            <a:endParaRPr lang="en-US" sz="1500" dirty="0"/>
          </a:p>
        </p:txBody>
      </p:sp>
      <p:sp>
        <p:nvSpPr>
          <p:cNvPr id="12" name="Efisiensi Kerja &amp; Akuntabilitas Staf"/>
          <p:cNvSpPr/>
          <p:nvPr/>
        </p:nvSpPr>
        <p:spPr>
          <a:xfrm>
            <a:off x="548640" y="3886200"/>
            <a:ext cx="5410048" cy="2103120"/>
          </a:xfrm>
          <a:prstGeom prst="roundRect">
            <a:avLst>
              <a:gd name="adj" fmla="val 5217"/>
            </a:avLst>
          </a:prstGeom>
          <a:solidFill>
            <a:srgbClr val="14244A"/>
          </a:solidFill>
          <a:ln w="12700">
            <a:solidFill>
              <a:srgbClr val="2C417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114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4A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4160520"/>
            <a:ext cx="385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Efisiensi Kerja &amp; Akuntabilitas Staf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983480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CE3F5"/>
                </a:solidFill>
              </a:rPr>
              <a:t>SOP shift kasir, absensi selfie GPS karyawan, dan pembagian peran RBAC mencegah manipulasi internal.</a:t>
            </a:r>
            <a:endParaRPr lang="en-US" sz="1500" dirty="0"/>
          </a:p>
        </p:txBody>
      </p:sp>
      <p:sp>
        <p:nvSpPr>
          <p:cNvPr id="16" name="Kesiapan Penuh Eksekusi"/>
          <p:cNvSpPr/>
          <p:nvPr/>
        </p:nvSpPr>
        <p:spPr>
          <a:xfrm>
            <a:off x="6233008" y="3886200"/>
            <a:ext cx="5410048" cy="2103120"/>
          </a:xfrm>
          <a:prstGeom prst="roundRect">
            <a:avLst>
              <a:gd name="adj" fmla="val 5217"/>
            </a:avLst>
          </a:prstGeom>
          <a:solidFill>
            <a:srgbClr val="14244A"/>
          </a:solidFill>
          <a:ln w="12700">
            <a:solidFill>
              <a:srgbClr val="2C417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53048" y="4114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4A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7513168" y="4160520"/>
            <a:ext cx="385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Kesiapan Penuh Eksekusi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598768" y="4983480"/>
            <a:ext cx="467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CE3F5"/>
                </a:solidFill>
              </a:rPr>
              <a:t>Tim Zag Digital Indonesia siap memimpin eksekusi fisik hingga integrasi software dalam 5 hari kerja tanpa mengganggu operasional gym.</a:t>
            </a:r>
            <a:endParaRPr lang="en-US" sz="1500" dirty="0"/>
          </a:p>
        </p:txBody>
      </p:sp>
      <p:pic>
        <p:nvPicPr>
          <p:cNvPr id="20" name="Image 0" descr="Logo Zag Digital Indones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07" y="6327648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C9AC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6F12"/>
                </a:solidFill>
              </a:rPr>
              <a:t>PENAWARAN SISTEM SMART GYM MANAGEMENT &amp; ACCESS GATE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530"/>
                </a:solidFill>
              </a:rPr>
              <a:t>Pilihan Paket Investasi Sistem</a:t>
            </a:r>
            <a:endParaRPr lang="en-US" sz="3200" dirty="0"/>
          </a:p>
        </p:txBody>
      </p:sp>
      <p:sp>
        <p:nvSpPr>
          <p:cNvPr id="4" name="PAKET 1"/>
          <p:cNvSpPr/>
          <p:nvPr/>
        </p:nvSpPr>
        <p:spPr>
          <a:xfrm>
            <a:off x="548640" y="1508760"/>
            <a:ext cx="3515258" cy="470916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296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6F12"/>
                </a:solidFill>
              </a:rPr>
              <a:t>PAKET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39112"/>
            <a:ext cx="2966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540"/>
                </a:solidFill>
              </a:rPr>
              <a:t>Basic Fitur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20.000.000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81528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B6785"/>
                </a:solidFill>
              </a:rPr>
              <a:t>Solusi meja kasir, penjualan, dan akses pintu gate otomatis.</a:t>
            </a:r>
            <a:endParaRPr lang="en-US" sz="1300" dirty="0"/>
          </a:p>
        </p:txBody>
      </p:sp>
      <p:sp>
        <p:nvSpPr>
          <p:cNvPr id="9" name="Pemisah"/>
          <p:cNvSpPr/>
          <p:nvPr/>
        </p:nvSpPr>
        <p:spPr>
          <a:xfrm>
            <a:off x="822960" y="3794760"/>
            <a:ext cx="2966618" cy="0"/>
          </a:xfrm>
          <a:prstGeom prst="line">
            <a:avLst/>
          </a:prstGeom>
          <a:noFill/>
          <a:ln w="12700">
            <a:solidFill>
              <a:srgbClr val="DDE2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977640"/>
            <a:ext cx="296661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Sistem POS Kasir &amp; cetak struk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Integrasi 2-Channel Face ID Turnstile Gate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Auto-block member expired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Garansi &amp; pendampingan 1 bulan</a:t>
            </a:r>
            <a:endParaRPr lang="en-US" sz="1400" dirty="0"/>
          </a:p>
        </p:txBody>
      </p:sp>
      <p:sp>
        <p:nvSpPr>
          <p:cNvPr id="11" name="PAKET 2"/>
          <p:cNvSpPr/>
          <p:nvPr/>
        </p:nvSpPr>
        <p:spPr>
          <a:xfrm>
            <a:off x="4338218" y="1508760"/>
            <a:ext cx="3515258" cy="470916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12538" y="1783080"/>
            <a:ext cx="296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6F12"/>
                </a:solidFill>
              </a:rPr>
              <a:t>PAKET 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12538" y="2039112"/>
            <a:ext cx="2966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540"/>
                </a:solidFill>
              </a:rPr>
              <a:t>Standar Professional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12538" y="24688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25.000.000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612538" y="3081528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B6785"/>
                </a:solidFill>
              </a:rPr>
              <a:t>Sistem operasional lengkap + Portal Web + Manajemen Komisi Trainer.</a:t>
            </a:r>
            <a:endParaRPr lang="en-US" sz="1300" dirty="0"/>
          </a:p>
        </p:txBody>
      </p:sp>
      <p:sp>
        <p:nvSpPr>
          <p:cNvPr id="16" name="Pemisah"/>
          <p:cNvSpPr/>
          <p:nvPr/>
        </p:nvSpPr>
        <p:spPr>
          <a:xfrm>
            <a:off x="4612538" y="3794760"/>
            <a:ext cx="2966618" cy="0"/>
          </a:xfrm>
          <a:prstGeom prst="line">
            <a:avLst/>
          </a:prstGeom>
          <a:noFill/>
          <a:ln w="12700">
            <a:solidFill>
              <a:srgbClr val="DDE2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12538" y="3977640"/>
            <a:ext cx="296661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Semua fitur Paket Basic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Web portal kaisargym.com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Portal Trainer &amp; komisi PT otomatis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Portal mandiri member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5B6785"/>
                </a:solidFill>
              </a:rPr>
              <a:t>Garansi &amp; pendampingan 3 bulan</a:t>
            </a:r>
            <a:endParaRPr lang="en-US" sz="1400" dirty="0"/>
          </a:p>
        </p:txBody>
      </p:sp>
      <p:sp>
        <p:nvSpPr>
          <p:cNvPr id="18" name="PAKET 3"/>
          <p:cNvSpPr/>
          <p:nvPr/>
        </p:nvSpPr>
        <p:spPr>
          <a:xfrm>
            <a:off x="8127797" y="1508760"/>
            <a:ext cx="3515258" cy="4709160"/>
          </a:xfrm>
          <a:prstGeom prst="roundRect">
            <a:avLst>
              <a:gd name="adj" fmla="val 3121"/>
            </a:avLst>
          </a:prstGeom>
          <a:solidFill>
            <a:srgbClr val="0B1530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9" name="Badge rekomendasi"/>
          <p:cNvSpPr txBox="1"/>
          <p:nvPr/>
        </p:nvSpPr>
        <p:spPr>
          <a:xfrm>
            <a:off x="8402117" y="1325880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D4A63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B1530"/>
                </a:solidFill>
              </a:rPr>
              <a:t>★ REKOMENDASI TERBAIK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402117" y="1783080"/>
            <a:ext cx="2966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4A63F"/>
                </a:solidFill>
              </a:rPr>
              <a:t>PAKET 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402117" y="2039112"/>
            <a:ext cx="2966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Executive Smart Gym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402117" y="2468880"/>
            <a:ext cx="29666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4A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30.000.000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8402117" y="3081528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DCE3F5"/>
                </a:solidFill>
              </a:rPr>
              <a:t>Kendali bisnis di HP Owner, Mobile Live Dashboard &amp; garansi 4 bulan.</a:t>
            </a:r>
            <a:endParaRPr lang="en-US" sz="1300" dirty="0"/>
          </a:p>
        </p:txBody>
      </p:sp>
      <p:sp>
        <p:nvSpPr>
          <p:cNvPr id="24" name="Pemisah"/>
          <p:cNvSpPr/>
          <p:nvPr/>
        </p:nvSpPr>
        <p:spPr>
          <a:xfrm>
            <a:off x="8402117" y="3794760"/>
            <a:ext cx="2966618" cy="0"/>
          </a:xfrm>
          <a:prstGeom prst="line">
            <a:avLst/>
          </a:prstGeom>
          <a:noFill/>
          <a:ln w="12700">
            <a:solidFill>
              <a:srgbClr val="2C417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02117" y="3977640"/>
            <a:ext cx="296661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CE3F5"/>
                </a:solidFill>
              </a:rPr>
              <a:t>Semua fitur Paket Standar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CE3F5"/>
                </a:solidFill>
              </a:rPr>
              <a:t>Mobile Executive Live Dashboard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CE3F5"/>
                </a:solidFill>
              </a:rPr>
              <a:t>Live Revenue Tracker &amp; Headcount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CE3F5"/>
                </a:solidFill>
              </a:rPr>
              <a:t>Trainer &amp; Sales Leaderboard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CE3F5"/>
                </a:solidFill>
              </a:rPr>
              <a:t>Garansi 4 bulan + jalur respon prioritas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6F12"/>
                </a:solidFill>
              </a:rPr>
              <a:t>PENAWARAN SISTEM SMART GYM MANAGEMENT &amp; ACCESS GATE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530"/>
                </a:solidFill>
              </a:rPr>
              <a:t>Perbandingan Fitur Lengkap</a:t>
            </a:r>
            <a:endParaRPr lang="en-US" sz="3200" dirty="0"/>
          </a:p>
        </p:txBody>
      </p:sp>
      <p:graphicFrame>
        <p:nvGraphicFramePr>
          <p:cNvPr id="15" name="Tabel perbandingan pake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48006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9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4A63F"/>
                          </a:solidFill>
                        </a:rPr>
                        <a:t>FITUR &amp; MODUL SISTEM</a:t>
                      </a:r>
                      <a:endParaRPr lang="en-US" sz="13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PAKET BASIC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Rp 20 Jt</a:t>
                      </a:r>
                      <a:endParaRPr lang="en-US" sz="12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PAKET STANDAR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Rp 25 Jt</a:t>
                      </a:r>
                      <a:endParaRPr lang="en-US" sz="12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1530"/>
                          </a:solidFill>
                        </a:rPr>
                        <a:t>PAKET EXECUTIVE ★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530"/>
                          </a:solidFill>
                        </a:rPr>
                        <a:t>Rp 30 Jt</a:t>
                      </a:r>
                      <a:endParaRPr lang="en-US" sz="12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540"/>
                          </a:solidFill>
                        </a:rPr>
                        <a:t>Sistem Kasir POS &amp; Cetak Struk</a:t>
                      </a:r>
                      <a:endParaRPr lang="en-US" sz="13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9E6A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9E6A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9E6A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540"/>
                          </a:solidFill>
                        </a:rPr>
                        <a:t>Integrasi 2-Channel Face ID Turnstile Gate</a:t>
                      </a:r>
                      <a:endParaRPr lang="en-US" sz="13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9E6A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9E6A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9E6A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540"/>
                          </a:solidFill>
                        </a:rPr>
                        <a:t>Auto-Block Member Expired di Pintu Masuk</a:t>
                      </a:r>
                      <a:endParaRPr lang="en-US" sz="13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9E6A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9E6A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9E6A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540"/>
                          </a:solidFill>
                        </a:rPr>
                        <a:t>Official Web Portal (kaisargym.com)</a:t>
                      </a:r>
                      <a:endParaRPr lang="en-US" sz="13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785"/>
                          </a:solidFill>
                        </a:rPr>
                        <a:t>Sederhana</a:t>
                      </a:r>
                      <a:endParaRPr lang="en-US" sz="13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785"/>
                          </a:solidFill>
                        </a:rPr>
                        <a:t>Lengkap</a:t>
                      </a:r>
                      <a:endParaRPr lang="en-US" sz="13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1530"/>
                          </a:solidFill>
                        </a:rPr>
                        <a:t>Lengkap</a:t>
                      </a:r>
                      <a:endParaRPr lang="en-US" sz="13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540"/>
                          </a:solidFill>
                        </a:rPr>
                        <a:t>Portal Personal Trainer (Cek Sesi di HP/Tablet)</a:t>
                      </a:r>
                      <a:endParaRPr lang="en-US" sz="13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A0A9BF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9E6A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9E6A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540"/>
                          </a:solidFill>
                        </a:rPr>
                        <a:t>Kalkulasi Komisi PT Otomatis (Tetap vs Freelance)</a:t>
                      </a:r>
                      <a:endParaRPr lang="en-US" sz="13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A0A9BF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9E6A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9E6A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540"/>
                          </a:solidFill>
                        </a:rPr>
                        <a:t>Portal Mandiri Member (Cek Masa Aktif dari HP)</a:t>
                      </a:r>
                      <a:endParaRPr lang="en-US" sz="13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A0A9BF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9E6A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1E9E6A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540"/>
                          </a:solidFill>
                        </a:rPr>
                        <a:t>Mobile Executive Dashboard di Layar HP Owner</a:t>
                      </a:r>
                      <a:endParaRPr lang="en-US" sz="13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A0A9BF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785"/>
                          </a:solidFill>
                        </a:rPr>
                        <a:t>Basic (Web)</a:t>
                      </a:r>
                      <a:endParaRPr lang="en-US" sz="13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1530"/>
                          </a:solidFill>
                        </a:rPr>
                        <a:t>Executive Pro (Live Web App)</a:t>
                      </a:r>
                      <a:endParaRPr lang="en-US" sz="13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540"/>
                          </a:solidFill>
                        </a:rPr>
                        <a:t>Trainer &amp; Sales Leaderboard Performance</a:t>
                      </a:r>
                      <a:endParaRPr lang="en-US" sz="13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A0A9BF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785"/>
                          </a:solidFill>
                        </a:rPr>
                        <a:t>Tabel Biasa</a:t>
                      </a:r>
                      <a:endParaRPr lang="en-US" sz="13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1530"/>
                          </a:solidFill>
                        </a:rPr>
                        <a:t>Leaderboard Otomatis</a:t>
                      </a:r>
                      <a:endParaRPr lang="en-US" sz="13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B2540"/>
                          </a:solidFill>
                        </a:rPr>
                        <a:t>Masa Garansi &amp; Pendampingan Sistem</a:t>
                      </a:r>
                      <a:endParaRPr lang="en-US" sz="13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785"/>
                          </a:solidFill>
                        </a:rPr>
                        <a:t>1 Bulan</a:t>
                      </a:r>
                      <a:endParaRPr lang="en-US" sz="13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5B6785"/>
                          </a:solidFill>
                        </a:rPr>
                        <a:t>3 Bulan</a:t>
                      </a:r>
                      <a:endParaRPr lang="en-US" sz="13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1530"/>
                          </a:solidFill>
                        </a:rPr>
                        <a:t>4 Bulan (Exclusive)</a:t>
                      </a:r>
                      <a:endParaRPr lang="en-US" sz="1300" dirty="0"/>
                    </a:p>
                  </a:txBody>
                  <a:tcPr marL="137160" marR="137160" marT="27432" marB="27432" anchor="ctr">
                    <a:lnL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4A63F"/>
                </a:solidFill>
              </a:rPr>
              <a:t>PENAWARAN SISTEM SMART GYM MANAGEMENT &amp; ACCESS GATE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Preview Antarmuka &amp; Dashboard Sistem</a:t>
            </a:r>
            <a:endParaRPr lang="en-US" sz="3200" dirty="0"/>
          </a:p>
        </p:txBody>
      </p:sp>
      <p:sp>
        <p:nvSpPr>
          <p:cNvPr id="4" name="Bingkai 1"/>
          <p:cNvSpPr/>
          <p:nvPr/>
        </p:nvSpPr>
        <p:spPr>
          <a:xfrm>
            <a:off x="512064" y="1609344"/>
            <a:ext cx="3588410" cy="2269966"/>
          </a:xfrm>
          <a:prstGeom prst="roundRect">
            <a:avLst>
              <a:gd name="adj" fmla="val 3223"/>
            </a:avLst>
          </a:prstGeom>
          <a:solidFill>
            <a:srgbClr val="D4A63F"/>
          </a:solidFill>
          <a:ln/>
        </p:spPr>
      </p:sp>
      <p:pic>
        <p:nvPicPr>
          <p:cNvPr id="5" name="Image 0" descr="Screenshot Executive Live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3515258" cy="2196814"/>
          </a:xfrm>
          <a:prstGeom prst="rect">
            <a:avLst/>
          </a:prstGeom>
        </p:spPr>
      </p:pic>
      <p:sp>
        <p:nvSpPr>
          <p:cNvPr id="6" name="Number 1"/>
          <p:cNvSpPr txBox="1"/>
          <p:nvPr/>
        </p:nvSpPr>
        <p:spPr>
          <a:xfrm>
            <a:off x="548640" y="4117054"/>
            <a:ext cx="384048" cy="384048"/>
          </a:xfrm>
          <a:prstGeom prst="ellipse">
            <a:avLst/>
          </a:prstGeom>
          <a:solidFill>
            <a:srgbClr val="D4A63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530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4117054"/>
            <a:ext cx="2966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Executive Live Dashboard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65694"/>
            <a:ext cx="35152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CE3F5"/>
                </a:solidFill>
              </a:rPr>
              <a:t>Pantauan omset live, jumlah kunjungan aktif di gym, performa kasir, dan ringkasan keuangan harian.</a:t>
            </a:r>
            <a:endParaRPr lang="en-US" sz="1400" dirty="0"/>
          </a:p>
        </p:txBody>
      </p:sp>
      <p:sp>
        <p:nvSpPr>
          <p:cNvPr id="9" name="Bingkai 2"/>
          <p:cNvSpPr/>
          <p:nvPr/>
        </p:nvSpPr>
        <p:spPr>
          <a:xfrm>
            <a:off x="4301642" y="1609344"/>
            <a:ext cx="3588410" cy="2269966"/>
          </a:xfrm>
          <a:prstGeom prst="roundRect">
            <a:avLst>
              <a:gd name="adj" fmla="val 3223"/>
            </a:avLst>
          </a:prstGeom>
          <a:solidFill>
            <a:srgbClr val="D4A63F"/>
          </a:solidFill>
          <a:ln/>
        </p:spPr>
      </p:sp>
      <p:pic>
        <p:nvPicPr>
          <p:cNvPr id="10" name="Image 1" descr="Screenshot Kasir POS &amp; Bill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218" y="1645920"/>
            <a:ext cx="3515258" cy="2196814"/>
          </a:xfrm>
          <a:prstGeom prst="rect">
            <a:avLst/>
          </a:prstGeom>
        </p:spPr>
      </p:pic>
      <p:sp>
        <p:nvSpPr>
          <p:cNvPr id="11" name="Number 2"/>
          <p:cNvSpPr txBox="1"/>
          <p:nvPr/>
        </p:nvSpPr>
        <p:spPr>
          <a:xfrm>
            <a:off x="4338218" y="4117054"/>
            <a:ext cx="384048" cy="384048"/>
          </a:xfrm>
          <a:prstGeom prst="ellipse">
            <a:avLst/>
          </a:prstGeom>
          <a:solidFill>
            <a:srgbClr val="D4A63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530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868570" y="4117054"/>
            <a:ext cx="2966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Kasir POS &amp; Billing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338218" y="4665694"/>
            <a:ext cx="35152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CE3F5"/>
                </a:solidFill>
              </a:rPr>
              <a:t>Katalog paket membership, tiket harian, produk retail, voucher promo, dan cetak struk kasir.</a:t>
            </a:r>
            <a:endParaRPr lang="en-US" sz="1400" dirty="0"/>
          </a:p>
        </p:txBody>
      </p:sp>
      <p:sp>
        <p:nvSpPr>
          <p:cNvPr id="14" name="Bingkai 3"/>
          <p:cNvSpPr/>
          <p:nvPr/>
        </p:nvSpPr>
        <p:spPr>
          <a:xfrm>
            <a:off x="8091221" y="1609344"/>
            <a:ext cx="3588410" cy="2269966"/>
          </a:xfrm>
          <a:prstGeom prst="roundRect">
            <a:avLst>
              <a:gd name="adj" fmla="val 3223"/>
            </a:avLst>
          </a:prstGeom>
          <a:solidFill>
            <a:srgbClr val="D4A63F"/>
          </a:solidFill>
          <a:ln/>
        </p:spPr>
      </p:sp>
      <p:pic>
        <p:nvPicPr>
          <p:cNvPr id="15" name="Image 2" descr="Screenshot Master Member CR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797" y="1645920"/>
            <a:ext cx="3515258" cy="2196814"/>
          </a:xfrm>
          <a:prstGeom prst="rect">
            <a:avLst/>
          </a:prstGeom>
        </p:spPr>
      </p:pic>
      <p:sp>
        <p:nvSpPr>
          <p:cNvPr id="16" name="Number 3"/>
          <p:cNvSpPr txBox="1"/>
          <p:nvPr/>
        </p:nvSpPr>
        <p:spPr>
          <a:xfrm>
            <a:off x="8127797" y="4117054"/>
            <a:ext cx="384048" cy="384048"/>
          </a:xfrm>
          <a:prstGeom prst="ellipse">
            <a:avLst/>
          </a:prstGeom>
          <a:solidFill>
            <a:srgbClr val="D4A63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530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8658149" y="4117054"/>
            <a:ext cx="29666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Master Member CRM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127797" y="4665694"/>
            <a:ext cx="35152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CE3F5"/>
                </a:solidFill>
              </a:rPr>
              <a:t>Database member lengkap, scan e-KTP OCR otomatis, foto selfie face recognition, dan kontrol akses palang pintu.</a:t>
            </a:r>
            <a:endParaRPr lang="en-US" sz="1400" dirty="0"/>
          </a:p>
        </p:txBody>
      </p:sp>
      <p:sp>
        <p:nvSpPr>
          <p:cNvPr id="19" name="Catatan tema"/>
          <p:cNvSpPr txBox="1"/>
          <p:nvPr/>
        </p:nvSpPr>
        <p:spPr>
          <a:xfrm>
            <a:off x="548640" y="5852160"/>
            <a:ext cx="11094415" cy="365760"/>
          </a:xfrm>
          <a:prstGeom prst="roundRect">
            <a:avLst>
              <a:gd name="adj" fmla="val 25000"/>
            </a:avLst>
          </a:prstGeom>
          <a:solidFill>
            <a:srgbClr val="14244A"/>
          </a:solidFill>
          <a:ln w="12700">
            <a:solidFill>
              <a:srgbClr val="2C417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D28A"/>
                </a:solidFill>
              </a:rPr>
              <a:t>Tema modern luxury (Deep Navy &amp; Gold Accent): intuitif dan responsif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C9AC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A6F12"/>
                </a:solidFill>
              </a:rPr>
              <a:t>PENAWARAN SISTEM SMART GYM MANAGEMENT &amp; ACCESS GATE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B1530"/>
                </a:solidFill>
              </a:rPr>
              <a:t>Tahapan Pengerjaan &amp; Termin Pembayaran</a:t>
            </a:r>
            <a:endParaRPr lang="en-US" sz="3200" dirty="0"/>
          </a:p>
        </p:txBody>
      </p:sp>
      <p:sp>
        <p:nvSpPr>
          <p:cNvPr id="4" name="Segmen termin 1"/>
          <p:cNvSpPr txBox="1"/>
          <p:nvPr/>
        </p:nvSpPr>
        <p:spPr>
          <a:xfrm>
            <a:off x="548640" y="1508760"/>
            <a:ext cx="5510632" cy="502920"/>
          </a:xfrm>
          <a:prstGeom prst="rect">
            <a:avLst/>
          </a:prstGeom>
          <a:solidFill>
            <a:srgbClr val="0B1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Termin 1 · DP 50%</a:t>
            </a:r>
            <a:endParaRPr lang="en-US" sz="1400" dirty="0"/>
          </a:p>
        </p:txBody>
      </p:sp>
      <p:sp>
        <p:nvSpPr>
          <p:cNvPr id="5" name="Segmen termin 2"/>
          <p:cNvSpPr txBox="1"/>
          <p:nvPr/>
        </p:nvSpPr>
        <p:spPr>
          <a:xfrm>
            <a:off x="6095848" y="1508760"/>
            <a:ext cx="3291749" cy="502920"/>
          </a:xfrm>
          <a:prstGeom prst="rect">
            <a:avLst/>
          </a:prstGeom>
          <a:solidFill>
            <a:srgbClr val="1F3A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Termin 2 · Progress 30%</a:t>
            </a:r>
            <a:endParaRPr lang="en-US" sz="1400" dirty="0"/>
          </a:p>
        </p:txBody>
      </p:sp>
      <p:sp>
        <p:nvSpPr>
          <p:cNvPr id="6" name="Segmen termin 3"/>
          <p:cNvSpPr txBox="1"/>
          <p:nvPr/>
        </p:nvSpPr>
        <p:spPr>
          <a:xfrm>
            <a:off x="9424172" y="1508760"/>
            <a:ext cx="2182307" cy="502920"/>
          </a:xfrm>
          <a:prstGeom prst="rect">
            <a:avLst/>
          </a:prstGeom>
          <a:solidFill>
            <a:srgbClr val="D4A63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530"/>
                </a:solidFill>
              </a:rPr>
              <a:t>Termin 3 · Pelunasan 20%</a:t>
            </a:r>
            <a:endParaRPr lang="en-US" sz="1400" dirty="0"/>
          </a:p>
        </p:txBody>
      </p:sp>
      <p:sp>
        <p:nvSpPr>
          <p:cNvPr id="7" name="Tahap 1"/>
          <p:cNvSpPr/>
          <p:nvPr/>
        </p:nvSpPr>
        <p:spPr>
          <a:xfrm>
            <a:off x="548640" y="2240280"/>
            <a:ext cx="3515258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8" name="Number 1"/>
          <p:cNvSpPr txBox="1"/>
          <p:nvPr/>
        </p:nvSpPr>
        <p:spPr>
          <a:xfrm>
            <a:off x="777240" y="2450592"/>
            <a:ext cx="457200" cy="457200"/>
          </a:xfrm>
          <a:prstGeom prst="ellipse">
            <a:avLst/>
          </a:prstGeom>
          <a:solidFill>
            <a:srgbClr val="0B1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63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487168"/>
            <a:ext cx="2509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6F12"/>
                </a:solidFill>
              </a:rPr>
              <a:t>TAHAP 1 · HARI 1 – 7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1752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540"/>
                </a:solidFill>
              </a:rPr>
              <a:t>Setup Database, Server &amp; Web Portal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5760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244A"/>
                </a:solidFill>
              </a:rPr>
              <a:t>Uang Muka (DP 50%) dibayarkan saat penandatanganan lembar persetujuan proyek.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4340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</a:rPr>
              <a:t>Penyediaan cloud server, registrasi domain kaisargym.com, setup database PostgreSQL, konfigurasi modul POS kasir, dan penyesuaian paket harga membership.</a:t>
            </a:r>
            <a:endParaRPr lang="en-US" sz="1300" dirty="0"/>
          </a:p>
        </p:txBody>
      </p:sp>
      <p:sp>
        <p:nvSpPr>
          <p:cNvPr id="13" name="Tahap 2"/>
          <p:cNvSpPr/>
          <p:nvPr/>
        </p:nvSpPr>
        <p:spPr>
          <a:xfrm>
            <a:off x="4338218" y="2240280"/>
            <a:ext cx="3515258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14" name="Number 2"/>
          <p:cNvSpPr txBox="1"/>
          <p:nvPr/>
        </p:nvSpPr>
        <p:spPr>
          <a:xfrm>
            <a:off x="4566818" y="2450592"/>
            <a:ext cx="457200" cy="457200"/>
          </a:xfrm>
          <a:prstGeom prst="ellipse">
            <a:avLst/>
          </a:prstGeom>
          <a:solidFill>
            <a:srgbClr val="0B1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63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206898" y="2487168"/>
            <a:ext cx="2509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6F12"/>
                </a:solidFill>
              </a:rPr>
              <a:t>TAHAP 2 · HARI 8 – 14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12538" y="301752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540"/>
                </a:solidFill>
              </a:rPr>
              <a:t>Integrasi Hardware Gate &amp; Uji Coba Lapangan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612538" y="365760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244A"/>
                </a:solidFill>
              </a:rPr>
              <a:t>Progress 30% dibayarkan setelah modul software siap terintegrasi ke gate.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612538" y="434340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</a:rPr>
              <a:t>Pemasangan jalur komunikasi data jaringan ke mesin Turnstile Face ID 2 Channel, sinkronisasi template wajah, dan pengujian keakuratan buka-tutup palang otomatis.</a:t>
            </a:r>
            <a:endParaRPr lang="en-US" sz="1300" dirty="0"/>
          </a:p>
        </p:txBody>
      </p:sp>
      <p:sp>
        <p:nvSpPr>
          <p:cNvPr id="19" name="Tahap 3"/>
          <p:cNvSpPr/>
          <p:nvPr/>
        </p:nvSpPr>
        <p:spPr>
          <a:xfrm>
            <a:off x="8127797" y="2240280"/>
            <a:ext cx="3515258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20" name="Number 3"/>
          <p:cNvSpPr txBox="1"/>
          <p:nvPr/>
        </p:nvSpPr>
        <p:spPr>
          <a:xfrm>
            <a:off x="8356397" y="2450592"/>
            <a:ext cx="457200" cy="457200"/>
          </a:xfrm>
          <a:prstGeom prst="ellipse">
            <a:avLst/>
          </a:prstGeom>
          <a:solidFill>
            <a:srgbClr val="0B153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63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996477" y="2487168"/>
            <a:ext cx="2509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6F12"/>
                </a:solidFill>
              </a:rPr>
              <a:t>TAHAP 3 · HARI 15 – 20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402117" y="301752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540"/>
                </a:solidFill>
              </a:rPr>
              <a:t>Pelatihan, Go-Live &amp; Serah Terima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402117" y="365760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244A"/>
                </a:solidFill>
              </a:rPr>
              <a:t>Pelunasan 20% dibayarkan saat serah terima sistem operasional penuh.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402117" y="4343400"/>
            <a:ext cx="29666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</a:rPr>
              <a:t>Pelatihan menyeluruh staf kasir dan personal trainer, input migrasi data member awal, dan peresmian sistem beroperasi penuh (Go-Live).</a:t>
            </a:r>
            <a:endParaRPr lang="en-US" sz="1300" dirty="0"/>
          </a:p>
        </p:txBody>
      </p:sp>
      <p:sp>
        <p:nvSpPr>
          <p:cNvPr id="25" name="Estimasi durasi"/>
          <p:cNvSpPr/>
          <p:nvPr/>
        </p:nvSpPr>
        <p:spPr>
          <a:xfrm>
            <a:off x="548640" y="5806440"/>
            <a:ext cx="11094415" cy="457200"/>
          </a:xfrm>
          <a:prstGeom prst="roundRect">
            <a:avLst>
              <a:gd name="adj" fmla="val 24000"/>
            </a:avLst>
          </a:prstGeom>
          <a:solidFill>
            <a:srgbClr val="0B1530"/>
          </a:solidFill>
          <a:ln/>
          <a:effectLst>
            <a:outerShdw blurRad="127000" dist="25400" dir="5400000" algn="bl" rotWithShape="0">
              <a:srgbClr val="1B2540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22960" y="580644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3F5"/>
                </a:solidFill>
              </a:rPr>
              <a:t>Estimasi total durasi implementasi: </a:t>
            </a:r>
            <a:r>
              <a:rPr lang="en-US" sz="1400" b="1" dirty="0">
                <a:solidFill>
                  <a:srgbClr val="D4A63F"/>
                </a:solidFill>
              </a:rPr>
              <a:t>15 – 20 hari kerja</a:t>
            </a:r>
            <a:r>
              <a:rPr lang="en-US" sz="1400" dirty="0">
                <a:solidFill>
                  <a:srgbClr val="DCE3F5"/>
                </a:solidFill>
              </a:rPr>
              <a:t>, siap operasional penuh mendampingi Kaisar Gym.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7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4A63F"/>
                </a:solidFill>
              </a:rPr>
              <a:t>PENUTUP PENAWARAN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Lembar Persetujuan Kerjasama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CE3F5"/>
                </a:solidFill>
              </a:rPr>
              <a:t>Dengan menandatangani dokumen ini, Manajemen / Owner Kaisar Gym Pontianak menyetujui penawaran implementasi sistem Smart Gym Management &amp; Access Gate dengan pilihan paket investasi:</a:t>
            </a:r>
            <a:endParaRPr lang="en-US" sz="1500" dirty="0"/>
          </a:p>
        </p:txBody>
      </p:sp>
      <p:sp>
        <p:nvSpPr>
          <p:cNvPr id="5" name="Pilihan 1"/>
          <p:cNvSpPr/>
          <p:nvPr/>
        </p:nvSpPr>
        <p:spPr>
          <a:xfrm>
            <a:off x="548640" y="2194560"/>
            <a:ext cx="11094415" cy="603504"/>
          </a:xfrm>
          <a:prstGeom prst="roundRect">
            <a:avLst>
              <a:gd name="adj" fmla="val 15152"/>
            </a:avLst>
          </a:prstGeom>
          <a:solidFill>
            <a:srgbClr val="14244A"/>
          </a:solidFill>
          <a:ln w="12700">
            <a:solidFill>
              <a:srgbClr val="2C4175"/>
            </a:solidFill>
            <a:prstDash val="solid"/>
          </a:ln>
        </p:spPr>
      </p:sp>
      <p:sp>
        <p:nvSpPr>
          <p:cNvPr id="6" name="Kotak centang 1"/>
          <p:cNvSpPr/>
          <p:nvPr/>
        </p:nvSpPr>
        <p:spPr>
          <a:xfrm>
            <a:off x="822960" y="235915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B1530"/>
          </a:solidFill>
          <a:ln w="19050">
            <a:solidFill>
              <a:srgbClr val="D4A6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194560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PAKET 1: BASIC FITUR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899855" y="2194560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D4A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20.000.000,-</a:t>
            </a:r>
            <a:endParaRPr lang="en-US" sz="1900" dirty="0"/>
          </a:p>
        </p:txBody>
      </p:sp>
      <p:sp>
        <p:nvSpPr>
          <p:cNvPr id="9" name="Pilihan 2"/>
          <p:cNvSpPr/>
          <p:nvPr/>
        </p:nvSpPr>
        <p:spPr>
          <a:xfrm>
            <a:off x="548640" y="2907792"/>
            <a:ext cx="11094415" cy="603504"/>
          </a:xfrm>
          <a:prstGeom prst="roundRect">
            <a:avLst>
              <a:gd name="adj" fmla="val 15152"/>
            </a:avLst>
          </a:prstGeom>
          <a:solidFill>
            <a:srgbClr val="14244A"/>
          </a:solidFill>
          <a:ln w="12700">
            <a:solidFill>
              <a:srgbClr val="2C4175"/>
            </a:solidFill>
            <a:prstDash val="solid"/>
          </a:ln>
        </p:spPr>
      </p:sp>
      <p:sp>
        <p:nvSpPr>
          <p:cNvPr id="10" name="Kotak centang 2"/>
          <p:cNvSpPr/>
          <p:nvPr/>
        </p:nvSpPr>
        <p:spPr>
          <a:xfrm>
            <a:off x="822960" y="307238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B1530"/>
          </a:solidFill>
          <a:ln w="19050">
            <a:solidFill>
              <a:srgbClr val="D4A6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25880" y="2907792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PAKET 2: STANDAR PROFESSIONAL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899855" y="2907792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D4A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25.000.000,-</a:t>
            </a:r>
            <a:endParaRPr lang="en-US" sz="1900" dirty="0"/>
          </a:p>
        </p:txBody>
      </p:sp>
      <p:sp>
        <p:nvSpPr>
          <p:cNvPr id="13" name="Pilihan 3"/>
          <p:cNvSpPr/>
          <p:nvPr/>
        </p:nvSpPr>
        <p:spPr>
          <a:xfrm>
            <a:off x="548640" y="3621024"/>
            <a:ext cx="11094415" cy="603504"/>
          </a:xfrm>
          <a:prstGeom prst="roundRect">
            <a:avLst>
              <a:gd name="adj" fmla="val 15152"/>
            </a:avLst>
          </a:prstGeom>
          <a:solidFill>
            <a:srgbClr val="1C2F5E"/>
          </a:solidFill>
          <a:ln w="19050">
            <a:solidFill>
              <a:srgbClr val="D4A63F"/>
            </a:solidFill>
            <a:prstDash val="solid"/>
          </a:ln>
        </p:spPr>
      </p:sp>
      <p:sp>
        <p:nvSpPr>
          <p:cNvPr id="14" name="Kotak centang 3"/>
          <p:cNvSpPr/>
          <p:nvPr/>
        </p:nvSpPr>
        <p:spPr>
          <a:xfrm>
            <a:off x="822960" y="378561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0B1530"/>
          </a:solidFill>
          <a:ln w="19050">
            <a:solidFill>
              <a:srgbClr val="D4A6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25880" y="3621024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PAKET 3: EXECUTIVE SMART GYM ★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362102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A63F"/>
                </a:solidFill>
              </a:rPr>
              <a:t>Rekomendasi Utama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899855" y="3621024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D4A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 30.000.000,-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C9AC0"/>
                </a:solidFill>
              </a:rPr>
              <a:t>Pontianak, ________________ 2026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754880"/>
            <a:ext cx="527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63F"/>
                </a:solidFill>
              </a:rPr>
              <a:t>PIHAK PERTAMA (Penyedia Sistem)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010912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Zag Digital Indonesia</a:t>
            </a:r>
            <a:endParaRPr lang="en-US" sz="1500" dirty="0"/>
          </a:p>
        </p:txBody>
      </p:sp>
      <p:sp>
        <p:nvSpPr>
          <p:cNvPr id="21" name="Garis tanda tangan 1"/>
          <p:cNvSpPr/>
          <p:nvPr/>
        </p:nvSpPr>
        <p:spPr>
          <a:xfrm>
            <a:off x="548640" y="5852160"/>
            <a:ext cx="5272888" cy="0"/>
          </a:xfrm>
          <a:prstGeom prst="line">
            <a:avLst/>
          </a:prstGeom>
          <a:noFill/>
          <a:ln w="12700">
            <a:solidFill>
              <a:srgbClr val="8C9AC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897880"/>
            <a:ext cx="527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Nahel Al Fath Ichida M.Kom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C9AC0"/>
                </a:solidFill>
              </a:rPr>
              <a:t>Lead IT Consultant &amp; Founder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70168" y="4754880"/>
            <a:ext cx="527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63F"/>
                </a:solidFill>
              </a:rPr>
              <a:t>PIHAK KEDUA (Manajemen / Owner)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370168" y="5010912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Kaisar Gym Pontianak</a:t>
            </a:r>
            <a:endParaRPr lang="en-US" sz="1500" dirty="0"/>
          </a:p>
        </p:txBody>
      </p:sp>
      <p:sp>
        <p:nvSpPr>
          <p:cNvPr id="25" name="Garis tanda tangan 2"/>
          <p:cNvSpPr/>
          <p:nvPr/>
        </p:nvSpPr>
        <p:spPr>
          <a:xfrm>
            <a:off x="6370168" y="5852160"/>
            <a:ext cx="5272888" cy="0"/>
          </a:xfrm>
          <a:prstGeom prst="line">
            <a:avLst/>
          </a:prstGeom>
          <a:noFill/>
          <a:ln w="12700">
            <a:solidFill>
              <a:srgbClr val="8C9AC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70168" y="5897880"/>
            <a:ext cx="5272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Owner / Manajemen Kaisar Gym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C9AC0"/>
                </a:solidFill>
              </a:rPr>
              <a:t>Pemilik Bisnis / Otoritas Keputusan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1908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C9AC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isar Gym">
  <a:themeElements>
    <a:clrScheme name="Kaisar Gym">
      <a:dk1>
        <a:srgbClr val="0B1530"/>
      </a:dk1>
      <a:lt1>
        <a:srgbClr val="FFFFFF"/>
      </a:lt1>
      <a:dk2>
        <a:srgbClr val="14244A"/>
      </a:dk2>
      <a:lt2>
        <a:srgbClr val="F3F5F9"/>
      </a:lt2>
      <a:accent1>
        <a:srgbClr val="D4A63F"/>
      </a:accent1>
      <a:accent2>
        <a:srgbClr val="1F3A6E"/>
      </a:accent2>
      <a:accent3>
        <a:srgbClr val="E5484D"/>
      </a:accent3>
      <a:accent4>
        <a:srgbClr val="2FB380"/>
      </a:accent4>
      <a:accent5>
        <a:srgbClr val="6B7A99"/>
      </a:accent5>
      <a:accent6>
        <a:srgbClr val="F0D28A"/>
      </a:accent6>
      <a:hlink>
        <a:srgbClr val="1F3A6E"/>
      </a:hlink>
      <a:folHlink>
        <a:srgbClr val="6B7A99"/>
      </a:folHlink>
    </a:clrScheme>
    <a:fontScheme name="Kaisar Gy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2297</Words>
  <Application>Microsoft Office PowerPoint</Application>
  <PresentationFormat>Widescreen</PresentationFormat>
  <Paragraphs>364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Kaisar Gym</vt:lpstr>
      <vt:lpstr>PowerPoint Presentation</vt:lpstr>
      <vt:lpstr>Mengapa Kaisar Gym Perlu Bertransformasi?</vt:lpstr>
      <vt:lpstr>Rincian Pengadaan Hardware &amp; Pemasangan</vt:lpstr>
      <vt:lpstr>Rincian Pengadaan Hardware &amp; Pemasangan</vt:lpstr>
      <vt:lpstr>Konsep Gerbang: 1-Channel Bidirectional</vt:lpstr>
      <vt:lpstr>Arsitektur Komunikasi API: Gate ↔ POS</vt:lpstr>
      <vt:lpstr>Visualisasi Alur Pengalaman Member Baru</vt:lpstr>
      <vt:lpstr>Ekosistem Layanan &amp; Operasional Terpadu</vt:lpstr>
      <vt:lpstr>Sistem POS: Kasir, Billing &amp; Shift Kas Kecil</vt:lpstr>
      <vt:lpstr>CRM Member, Kelas Studio &amp; Personal Trainer</vt:lpstr>
      <vt:lpstr>SOP &amp; Matriks Hak Akses (RBAC 7 Roles)</vt:lpstr>
      <vt:lpstr>Kesimpulan &amp; Nilai Strategis bagi Kaisar Gym</vt:lpstr>
      <vt:lpstr>Pilihan Paket Investasi Sistem</vt:lpstr>
      <vt:lpstr>Perbandingan Fitur Lengkap</vt:lpstr>
      <vt:lpstr>Preview Antarmuka &amp; Dashboard Sistem</vt:lpstr>
      <vt:lpstr>Tahapan Pengerjaan &amp; Termin Pembayaran</vt:lpstr>
      <vt:lpstr>Lembar Persetujuan Kerjasama</vt:lpstr>
    </vt:vector>
  </TitlesOfParts>
  <Company>Zag Digital Indonesia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Implementasi Gate dan POS Kaisar Gym</dc:title>
  <dc:subject>PptxGenJS Presentation</dc:subject>
  <dc:creator>Zag Digital Indonesia</dc:creator>
  <cp:lastModifiedBy>nahel zag</cp:lastModifiedBy>
  <cp:revision>2</cp:revision>
  <dcterms:created xsi:type="dcterms:W3CDTF">2026-10-21T07:27:58Z</dcterms:created>
  <dcterms:modified xsi:type="dcterms:W3CDTF">2026-10-21T07:40:32Z</dcterms:modified>
</cp:coreProperties>
</file>